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7" r:id="rId3"/>
    <p:sldId id="257" r:id="rId4"/>
    <p:sldId id="258" r:id="rId5"/>
    <p:sldId id="259" r:id="rId6"/>
    <p:sldId id="260" r:id="rId7"/>
    <p:sldId id="261" r:id="rId8"/>
    <p:sldId id="262" r:id="rId9"/>
    <p:sldId id="273" r:id="rId10"/>
    <p:sldId id="274" r:id="rId11"/>
    <p:sldId id="275" r:id="rId12"/>
    <p:sldId id="276" r:id="rId13"/>
    <p:sldId id="263" r:id="rId14"/>
    <p:sldId id="264" r:id="rId15"/>
    <p:sldId id="266"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10"/>
  </p:normalViewPr>
  <p:slideViewPr>
    <p:cSldViewPr snapToGrid="0" snapToObjects="1">
      <p:cViewPr>
        <p:scale>
          <a:sx n="100" d="100"/>
          <a:sy n="100" d="100"/>
        </p:scale>
        <p:origin x="907"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434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657350"/>
            <a:ext cx="8229600" cy="1828800"/>
          </a:xfrm>
          <a:prstGeom prst="rect">
            <a:avLst/>
          </a:prstGeom>
          <a:noFill/>
          <a:ln/>
        </p:spPr>
        <p:txBody>
          <a:bodyPr wrap="square" rtlCol="0" anchor="ctr"/>
          <a:lstStyle/>
          <a:p>
            <a:pPr marL="0" indent="0" algn="ctr">
              <a:buNone/>
            </a:pPr>
            <a:r>
              <a:rPr lang="en-US" sz="4400" b="1" dirty="0">
                <a:solidFill>
                  <a:srgbClr val="FFFFFF"/>
                </a:solidFill>
                <a:latin typeface="Arial Black" pitchFamily="34" charset="0"/>
                <a:ea typeface="Arial Black" pitchFamily="34" charset="-122"/>
                <a:cs typeface="Arial Black" pitchFamily="34" charset="-120"/>
              </a:rPr>
              <a:t>TERMINAL-BASED MINI</a:t>
            </a:r>
            <a:endParaRPr lang="en-US" sz="4400" dirty="0"/>
          </a:p>
          <a:p>
            <a:pPr marL="0" indent="0" algn="ctr">
              <a:buNone/>
            </a:pPr>
            <a:r>
              <a:rPr lang="en-US" sz="4400" b="1" dirty="0">
                <a:solidFill>
                  <a:srgbClr val="FFFFFF"/>
                </a:solidFill>
                <a:latin typeface="Arial Black" pitchFamily="34" charset="0"/>
                <a:ea typeface="Arial Black" pitchFamily="34" charset="-122"/>
                <a:cs typeface="Arial Black" pitchFamily="34" charset="-120"/>
              </a:rPr>
              <a:t>OPERATING SYSTEM</a:t>
            </a:r>
            <a:endParaRPr lang="en-US" sz="4400" dirty="0"/>
          </a:p>
          <a:p>
            <a:pPr marL="0" indent="0" algn="ctr">
              <a:buNone/>
            </a:pPr>
            <a:r>
              <a:rPr lang="en-US" sz="4400" b="1" dirty="0">
                <a:solidFill>
                  <a:srgbClr val="FFFFFF"/>
                </a:solidFill>
                <a:latin typeface="Arial Black" pitchFamily="34" charset="0"/>
                <a:ea typeface="Arial Black" pitchFamily="34" charset="-122"/>
                <a:cs typeface="Arial Black" pitchFamily="34" charset="-120"/>
              </a:rPr>
              <a:t>SIMULATOR</a:t>
            </a:r>
            <a:endParaRPr lang="en-US" sz="4400" dirty="0"/>
          </a:p>
        </p:txBody>
      </p:sp>
      <p:sp>
        <p:nvSpPr>
          <p:cNvPr id="3" name="Text 1"/>
          <p:cNvSpPr/>
          <p:nvPr/>
        </p:nvSpPr>
        <p:spPr>
          <a:xfrm>
            <a:off x="510540" y="3703320"/>
            <a:ext cx="8229600" cy="457200"/>
          </a:xfrm>
          <a:prstGeom prst="rect">
            <a:avLst/>
          </a:prstGeom>
          <a:noFill/>
          <a:ln/>
        </p:spPr>
        <p:txBody>
          <a:bodyPr wrap="square" rtlCol="0" anchor="ctr"/>
          <a:lstStyle/>
          <a:p>
            <a:pPr marL="0" indent="0" algn="ctr">
              <a:buNone/>
            </a:pPr>
            <a:r>
              <a:rPr lang="en-US" sz="2200" dirty="0">
                <a:solidFill>
                  <a:srgbClr val="CADCFC"/>
                </a:solidFill>
                <a:latin typeface="Calibri" pitchFamily="34" charset="0"/>
                <a:ea typeface="Calibri" pitchFamily="34" charset="-122"/>
                <a:cs typeface="Calibri" pitchFamily="34" charset="-120"/>
              </a:rPr>
              <a:t>Foundation of Programming</a:t>
            </a:r>
            <a:endParaRPr lang="en-US" sz="2200" dirty="0"/>
          </a:p>
        </p:txBody>
      </p:sp>
      <p:sp>
        <p:nvSpPr>
          <p:cNvPr id="4" name="Text 2"/>
          <p:cNvSpPr/>
          <p:nvPr/>
        </p:nvSpPr>
        <p:spPr>
          <a:xfrm>
            <a:off x="441960" y="4511040"/>
            <a:ext cx="8229600" cy="36576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A simplified command-line interface to understand core OS concepts</a:t>
            </a:r>
            <a:endParaRPr lang="en-US" sz="1600" dirty="0"/>
          </a:p>
        </p:txBody>
      </p:sp>
      <p:pic>
        <p:nvPicPr>
          <p:cNvPr id="5" name="Picture 4">
            <a:extLst>
              <a:ext uri="{FF2B5EF4-FFF2-40B4-BE49-F238E27FC236}">
                <a16:creationId xmlns:a16="http://schemas.microsoft.com/office/drawing/2014/main" id="{33354F5E-D7C3-1953-A1AE-A2FA34154E9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0985" y="130175"/>
            <a:ext cx="5731510" cy="13100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141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INTRODUCTION</a:t>
            </a:r>
            <a:endParaRPr lang="en-US" sz="3600" dirty="0"/>
          </a:p>
        </p:txBody>
      </p:sp>
      <p:sp>
        <p:nvSpPr>
          <p:cNvPr id="3" name="Shape 1"/>
          <p:cNvSpPr/>
          <p:nvPr/>
        </p:nvSpPr>
        <p:spPr>
          <a:xfrm>
            <a:off x="457200" y="1005840"/>
            <a:ext cx="8229600" cy="3840480"/>
          </a:xfrm>
          <a:prstGeom prst="rect">
            <a:avLst/>
          </a:prstGeom>
          <a:solidFill>
            <a:srgbClr val="FFFFFF"/>
          </a:solidFill>
          <a:ln w="12700">
            <a:solidFill>
              <a:srgbClr val="2C5F2D"/>
            </a:solidFill>
            <a:prstDash val="solid"/>
          </a:ln>
        </p:spPr>
      </p:sp>
      <p:sp>
        <p:nvSpPr>
          <p:cNvPr id="4" name="Text 2"/>
          <p:cNvSpPr/>
          <p:nvPr/>
        </p:nvSpPr>
        <p:spPr>
          <a:xfrm>
            <a:off x="640080" y="1188720"/>
            <a:ext cx="7863840" cy="3474720"/>
          </a:xfrm>
          <a:prstGeom prst="rect">
            <a:avLst/>
          </a:prstGeom>
          <a:noFill/>
          <a:ln/>
        </p:spPr>
        <p:txBody>
          <a:bodyPr wrap="square" rtlCol="0" anchor="ctr"/>
          <a:lstStyle/>
          <a:p>
            <a:pPr marL="0" indent="0">
              <a:buNone/>
            </a:pPr>
            <a:endParaRPr lang="en-US" b="1" dirty="0">
              <a:solidFill>
                <a:srgbClr val="2C5F2D"/>
              </a:solidFill>
              <a:latin typeface="Calibri" pitchFamily="34" charset="0"/>
              <a:ea typeface="Calibri" pitchFamily="34" charset="-122"/>
              <a:cs typeface="Calibri" pitchFamily="34" charset="-120"/>
            </a:endParaRPr>
          </a:p>
          <a:p>
            <a:pPr marL="0" indent="0">
              <a:buNone/>
            </a:pPr>
            <a:r>
              <a:rPr lang="en-US" sz="1800" b="1" dirty="0">
                <a:solidFill>
                  <a:srgbClr val="2C5F2D"/>
                </a:solidFill>
                <a:latin typeface="Calibri" pitchFamily="34" charset="0"/>
                <a:ea typeface="Calibri" pitchFamily="34" charset="-122"/>
                <a:cs typeface="Calibri" pitchFamily="34" charset="-120"/>
              </a:rPr>
              <a:t>Definition of an Operating System</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An Operating System (OS) is system software that manages computer hardware, software resources, and provides common services for computer programs. It acts as an intermediary between users and computer hardware.
</a:t>
            </a:r>
            <a:endParaRPr lang="en-US" sz="1500" dirty="0"/>
          </a:p>
          <a:p>
            <a:pPr marL="0" indent="0">
              <a:buNone/>
            </a:pPr>
            <a:r>
              <a:rPr lang="en-US" sz="1800" b="1" dirty="0">
                <a:solidFill>
                  <a:srgbClr val="2C5F2D"/>
                </a:solidFill>
                <a:latin typeface="Calibri" pitchFamily="34" charset="0"/>
                <a:ea typeface="Calibri" pitchFamily="34" charset="-122"/>
                <a:cs typeface="Calibri" pitchFamily="34" charset="-120"/>
              </a:rPr>
              <a:t>Role of OS in a Computer System</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Process Management: Controls execution of programs and manages CPU scheduling</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Memory Management: Allocates and deallocates memory space as needed</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File Management: Organizes, stores, retrieves, and manages data on storage devices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Device Management: Controls and coordinates hardware devices
</a:t>
            </a:r>
            <a:endParaRPr lang="en-US" sz="1500" dirty="0"/>
          </a:p>
          <a:p>
            <a:pPr marL="0" indent="0">
              <a:buNone/>
            </a:pPr>
            <a:r>
              <a:rPr lang="en-US" sz="1800" b="1" dirty="0">
                <a:solidFill>
                  <a:srgbClr val="2C5F2D"/>
                </a:solidFill>
                <a:latin typeface="Calibri" pitchFamily="34" charset="0"/>
                <a:ea typeface="Calibri" pitchFamily="34" charset="-122"/>
                <a:cs typeface="Calibri" pitchFamily="34" charset="-120"/>
              </a:rPr>
              <a:t>Importance of Studying OS Basics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Understanding OS fundamentals helps programmers write efficient code, debug system-level issues, and comprehend how software interacts with hardware at a fundamental level.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PROBLEM STATEMENT</a:t>
            </a:r>
            <a:endParaRPr lang="en-US" sz="3600" dirty="0"/>
          </a:p>
        </p:txBody>
      </p:sp>
      <p:sp>
        <p:nvSpPr>
          <p:cNvPr id="3" name="Shape 1"/>
          <p:cNvSpPr/>
          <p:nvPr/>
        </p:nvSpPr>
        <p:spPr>
          <a:xfrm>
            <a:off x="457200" y="1097280"/>
            <a:ext cx="3840480" cy="1280160"/>
          </a:xfrm>
          <a:prstGeom prst="rect">
            <a:avLst/>
          </a:prstGeom>
          <a:solidFill>
            <a:srgbClr val="FFFFFF"/>
          </a:solidFill>
          <a:ln w="25400">
            <a:solidFill>
              <a:srgbClr val="0891B2"/>
            </a:solidFill>
            <a:prstDash val="solid"/>
          </a:ln>
        </p:spPr>
      </p:sp>
      <p:sp>
        <p:nvSpPr>
          <p:cNvPr id="4" name="Text 2"/>
          <p:cNvSpPr/>
          <p:nvPr/>
        </p:nvSpPr>
        <p:spPr>
          <a:xfrm>
            <a:off x="640080" y="1165860"/>
            <a:ext cx="3474720" cy="274320"/>
          </a:xfrm>
          <a:prstGeom prst="rect">
            <a:avLst/>
          </a:prstGeom>
          <a:noFill/>
          <a:ln/>
        </p:spPr>
        <p:txBody>
          <a:bodyPr wrap="square" rtlCol="0" anchor="ctr"/>
          <a:lstStyle/>
          <a:p>
            <a:pPr marL="0" indent="0" algn="ctr">
              <a:buNone/>
            </a:pPr>
            <a:r>
              <a:rPr lang="en-US" sz="1200" b="1" dirty="0">
                <a:solidFill>
                  <a:srgbClr val="0891B2"/>
                </a:solidFill>
                <a:latin typeface="Arial" pitchFamily="34" charset="0"/>
                <a:ea typeface="Arial" pitchFamily="34" charset="-122"/>
                <a:cs typeface="Arial" pitchFamily="34" charset="-120"/>
              </a:rPr>
              <a:t>Difficulty of Understanding Real Operating Systems</a:t>
            </a:r>
            <a:endParaRPr lang="en-US" sz="1200" dirty="0"/>
          </a:p>
        </p:txBody>
      </p:sp>
      <p:sp>
        <p:nvSpPr>
          <p:cNvPr id="5" name="Text 3"/>
          <p:cNvSpPr/>
          <p:nvPr/>
        </p:nvSpPr>
        <p:spPr>
          <a:xfrm>
            <a:off x="640080" y="1539240"/>
            <a:ext cx="3474720" cy="73152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Modern operating systems like Windows, Linux, and macOS are extremely complex with millions of lines of code. Their intricate architecture makes it challenging for beginners to grasp fundamental OS concepts without getting overwhelmed</a:t>
            </a:r>
            <a:r>
              <a:rPr lang="en-US" sz="1400" dirty="0">
                <a:solidFill>
                  <a:srgbClr val="212121"/>
                </a:solidFill>
                <a:latin typeface="Calibri" pitchFamily="34" charset="0"/>
                <a:ea typeface="Calibri" pitchFamily="34" charset="-122"/>
                <a:cs typeface="Calibri" pitchFamily="34" charset="-120"/>
              </a:rPr>
              <a:t>.</a:t>
            </a:r>
            <a:endParaRPr lang="en-US" sz="1400" dirty="0"/>
          </a:p>
        </p:txBody>
      </p:sp>
      <p:sp>
        <p:nvSpPr>
          <p:cNvPr id="6" name="Shape 4"/>
          <p:cNvSpPr/>
          <p:nvPr/>
        </p:nvSpPr>
        <p:spPr>
          <a:xfrm>
            <a:off x="4846320" y="1097280"/>
            <a:ext cx="3840480" cy="1280160"/>
          </a:xfrm>
          <a:prstGeom prst="rect">
            <a:avLst/>
          </a:prstGeom>
          <a:solidFill>
            <a:srgbClr val="FFFFFF"/>
          </a:solidFill>
          <a:ln w="25400">
            <a:solidFill>
              <a:srgbClr val="0891B2"/>
            </a:solidFill>
            <a:prstDash val="solid"/>
          </a:ln>
        </p:spPr>
      </p:sp>
      <p:sp>
        <p:nvSpPr>
          <p:cNvPr id="7" name="Text 5"/>
          <p:cNvSpPr/>
          <p:nvPr/>
        </p:nvSpPr>
        <p:spPr>
          <a:xfrm>
            <a:off x="5029200" y="1234440"/>
            <a:ext cx="3474720" cy="274320"/>
          </a:xfrm>
          <a:prstGeom prst="rect">
            <a:avLst/>
          </a:prstGeom>
          <a:noFill/>
          <a:ln/>
        </p:spPr>
        <p:txBody>
          <a:bodyPr wrap="square" rtlCol="0" anchor="ctr"/>
          <a:lstStyle/>
          <a:p>
            <a:pPr marL="0" indent="0">
              <a:buNone/>
            </a:pPr>
            <a:r>
              <a:rPr lang="en-US" sz="1200" b="1" dirty="0">
                <a:solidFill>
                  <a:srgbClr val="0891B2"/>
                </a:solidFill>
                <a:latin typeface="Arial" pitchFamily="34" charset="0"/>
                <a:ea typeface="Arial" pitchFamily="34" charset="-122"/>
                <a:cs typeface="Arial" pitchFamily="34" charset="-120"/>
              </a:rPr>
              <a:t>Lack of Practical Exposure for Beginners</a:t>
            </a:r>
            <a:endParaRPr lang="en-US" sz="1200" dirty="0"/>
          </a:p>
        </p:txBody>
      </p:sp>
      <p:sp>
        <p:nvSpPr>
          <p:cNvPr id="8" name="Text 6"/>
          <p:cNvSpPr/>
          <p:nvPr/>
        </p:nvSpPr>
        <p:spPr>
          <a:xfrm>
            <a:off x="5029200" y="1600200"/>
            <a:ext cx="3474720" cy="73152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Students often study OS theory from textbooks but lack hands-on experience with actual OS operations. This gap between theory and practice hinders deep understanding and practical skill development.</a:t>
            </a:r>
            <a:endParaRPr lang="en-US" sz="1200" dirty="0"/>
          </a:p>
        </p:txBody>
      </p:sp>
      <p:sp>
        <p:nvSpPr>
          <p:cNvPr id="9" name="Shape 7"/>
          <p:cNvSpPr/>
          <p:nvPr/>
        </p:nvSpPr>
        <p:spPr>
          <a:xfrm>
            <a:off x="457200" y="2651760"/>
            <a:ext cx="8229600" cy="2103120"/>
          </a:xfrm>
          <a:prstGeom prst="rect">
            <a:avLst/>
          </a:prstGeom>
          <a:solidFill>
            <a:srgbClr val="FFFFFF"/>
          </a:solidFill>
          <a:ln w="25400">
            <a:solidFill>
              <a:srgbClr val="2C5F2D"/>
            </a:solidFill>
            <a:prstDash val="solid"/>
          </a:ln>
        </p:spPr>
      </p:sp>
      <p:sp>
        <p:nvSpPr>
          <p:cNvPr id="10" name="Text 8"/>
          <p:cNvSpPr/>
          <p:nvPr/>
        </p:nvSpPr>
        <p:spPr>
          <a:xfrm>
            <a:off x="640080" y="2788920"/>
            <a:ext cx="7863840" cy="365760"/>
          </a:xfrm>
          <a:prstGeom prst="rect">
            <a:avLst/>
          </a:prstGeom>
          <a:noFill/>
          <a:ln/>
        </p:spPr>
        <p:txBody>
          <a:bodyPr wrap="square" rtlCol="0" anchor="ctr"/>
          <a:lstStyle/>
          <a:p>
            <a:pPr marL="0" indent="0">
              <a:buNone/>
            </a:pPr>
            <a:r>
              <a:rPr lang="en-US" sz="2000" b="1" dirty="0">
                <a:solidFill>
                  <a:srgbClr val="2C5F2D"/>
                </a:solidFill>
                <a:latin typeface="Arial" pitchFamily="34" charset="0"/>
                <a:ea typeface="Arial" pitchFamily="34" charset="-122"/>
                <a:cs typeface="Arial" pitchFamily="34" charset="-120"/>
              </a:rPr>
              <a:t>Need for a Simplified Learning Approach</a:t>
            </a:r>
            <a:endParaRPr lang="en-US" sz="2000" dirty="0"/>
          </a:p>
        </p:txBody>
      </p:sp>
      <p:sp>
        <p:nvSpPr>
          <p:cNvPr id="11" name="Text 9"/>
          <p:cNvSpPr/>
          <p:nvPr/>
        </p:nvSpPr>
        <p:spPr>
          <a:xfrm>
            <a:off x="640080" y="3200400"/>
            <a:ext cx="7863840" cy="1463040"/>
          </a:xfrm>
          <a:prstGeom prst="rect">
            <a:avLst/>
          </a:prstGeom>
          <a:noFill/>
          <a:ln/>
        </p:spPr>
        <p:txBody>
          <a:bodyPr wrap="square" rtlCol="0" anchor="ctr"/>
          <a:lstStyle/>
          <a:p>
            <a:pPr marL="0" indent="0">
              <a:buNone/>
            </a:pPr>
            <a:r>
              <a:rPr lang="en-US" sz="1500" dirty="0">
                <a:solidFill>
                  <a:srgbClr val="212121"/>
                </a:solidFill>
                <a:latin typeface="Calibri" pitchFamily="34" charset="0"/>
                <a:ea typeface="Calibri" pitchFamily="34" charset="-122"/>
                <a:cs typeface="Calibri" pitchFamily="34" charset="-120"/>
              </a:rPr>
              <a:t>There is a clear need for educational tools that:</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Simplify complex OS concepts into manageable, understandable components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Provide interactive, hands-on learning experiences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Allow students to experiment with OS operations in a safe, controlled environment</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Bridge the gap between theoretical knowledge and practical implementation</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Build foundational understanding before advancing to complex real-world systems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PROJECT OBJECTIVES</a:t>
            </a:r>
            <a:endParaRPr lang="en-US" sz="3600" dirty="0"/>
          </a:p>
        </p:txBody>
      </p:sp>
      <p:sp>
        <p:nvSpPr>
          <p:cNvPr id="3" name="Shape 1"/>
          <p:cNvSpPr/>
          <p:nvPr/>
        </p:nvSpPr>
        <p:spPr>
          <a:xfrm>
            <a:off x="457200" y="1005840"/>
            <a:ext cx="8229600" cy="3840480"/>
          </a:xfrm>
          <a:prstGeom prst="rect">
            <a:avLst/>
          </a:prstGeom>
          <a:solidFill>
            <a:srgbClr val="FFFFFF"/>
          </a:solidFill>
          <a:ln w="12700">
            <a:solidFill>
              <a:srgbClr val="1E2761"/>
            </a:solidFill>
            <a:prstDash val="solid"/>
          </a:ln>
        </p:spPr>
      </p:sp>
      <p:sp>
        <p:nvSpPr>
          <p:cNvPr id="4" name="Text 2"/>
          <p:cNvSpPr/>
          <p:nvPr/>
        </p:nvSpPr>
        <p:spPr>
          <a:xfrm>
            <a:off x="640080" y="1188720"/>
            <a:ext cx="7863840" cy="347472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Learning Goals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Understand core operating system concepts through practical implementation</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Learn command-line interface design and user interaction patterns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Comprehend process management, file handling, and system architecture</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Develop problem-solving skills by simulating real OS functionalities</a:t>
            </a:r>
            <a:endParaRPr lang="en-US" sz="1500" dirty="0"/>
          </a:p>
          <a:p>
            <a:pPr marL="0" indent="0">
              <a:buNone/>
            </a:pPr>
            <a:r>
              <a:rPr lang="en-US" sz="2000" b="1" dirty="0">
                <a:solidFill>
                  <a:srgbClr val="1E2761"/>
                </a:solidFill>
                <a:latin typeface="Calibri" pitchFamily="34" charset="0"/>
                <a:ea typeface="Calibri" pitchFamily="34" charset="-122"/>
                <a:cs typeface="Calibri" pitchFamily="34" charset="-120"/>
              </a:rPr>
              <a:t>Skill Development Objectives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Master programming fundamentals: loops, conditionals, functions, and data structures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Implement string manipulation and command parsing techniques</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Practice modular programming and code organization</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Enhance debugging and testing capabilities</a:t>
            </a:r>
            <a:endParaRPr lang="en-US" sz="1500" dirty="0"/>
          </a:p>
          <a:p>
            <a:pPr marL="0" indent="0">
              <a:buNone/>
            </a:pPr>
            <a:r>
              <a:rPr lang="en-US" sz="2000" b="1" dirty="0">
                <a:solidFill>
                  <a:srgbClr val="1E2761"/>
                </a:solidFill>
                <a:latin typeface="Calibri" pitchFamily="34" charset="0"/>
                <a:ea typeface="Calibri" pitchFamily="34" charset="-122"/>
                <a:cs typeface="Calibri" pitchFamily="34" charset="-120"/>
              </a:rPr>
              <a:t>Educational Purpose of the Project
</a:t>
            </a:r>
            <a:r>
              <a:rPr lang="en-US" sz="1500" dirty="0">
                <a:solidFill>
                  <a:srgbClr val="212121"/>
                </a:solidFill>
                <a:latin typeface="Calibri" pitchFamily="34" charset="0"/>
                <a:ea typeface="Calibri" pitchFamily="34" charset="-122"/>
                <a:cs typeface="Calibri" pitchFamily="34" charset="-120"/>
              </a:rPr>
              <a:t>This project serves as a foundational learning tool that demonstrates how operating systems work at a simplified level, making abstract OS concepts tangible and understandable for beginner programmers.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TERMINAL-BASED MINI OS</a:t>
            </a:r>
            <a:endParaRPr lang="en-US" sz="3600" dirty="0"/>
          </a:p>
        </p:txBody>
      </p:sp>
      <p:sp>
        <p:nvSpPr>
          <p:cNvPr id="3" name="Shape 1"/>
          <p:cNvSpPr/>
          <p:nvPr/>
        </p:nvSpPr>
        <p:spPr>
          <a:xfrm>
            <a:off x="457200" y="1097280"/>
            <a:ext cx="8229600" cy="1188720"/>
          </a:xfrm>
          <a:prstGeom prst="rect">
            <a:avLst/>
          </a:prstGeom>
          <a:solidFill>
            <a:srgbClr val="2C5F2D"/>
          </a:solidFill>
          <a:ln w="12700">
            <a:solidFill>
              <a:srgbClr val="2C5F2D"/>
            </a:solidFill>
            <a:prstDash val="solid"/>
          </a:ln>
        </p:spPr>
      </p:sp>
      <p:sp>
        <p:nvSpPr>
          <p:cNvPr id="4" name="Text 2"/>
          <p:cNvSpPr/>
          <p:nvPr/>
        </p:nvSpPr>
        <p:spPr>
          <a:xfrm>
            <a:off x="640080" y="1234440"/>
            <a:ext cx="7863840" cy="27432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Definition</a:t>
            </a:r>
            <a:endParaRPr lang="en-US" sz="2000" dirty="0"/>
          </a:p>
        </p:txBody>
      </p:sp>
      <p:sp>
        <p:nvSpPr>
          <p:cNvPr id="5" name="Text 3"/>
          <p:cNvSpPr/>
          <p:nvPr/>
        </p:nvSpPr>
        <p:spPr>
          <a:xfrm>
            <a:off x="640080" y="1554480"/>
            <a:ext cx="786384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Terminal-Based Mini Operating System is a simplified command-line program that simulates basic operating system functionalities without a graphical user interface. Users interact with the system by typing text commands, similar to Linux terminal or Windows Command Prompt.</a:t>
            </a:r>
            <a:endParaRPr lang="en-US" sz="1500" dirty="0"/>
          </a:p>
        </p:txBody>
      </p:sp>
      <p:sp>
        <p:nvSpPr>
          <p:cNvPr id="6" name="Shape 4"/>
          <p:cNvSpPr/>
          <p:nvPr/>
        </p:nvSpPr>
        <p:spPr>
          <a:xfrm>
            <a:off x="457200" y="2468880"/>
            <a:ext cx="3931920" cy="2286000"/>
          </a:xfrm>
          <a:prstGeom prst="rect">
            <a:avLst/>
          </a:prstGeom>
          <a:solidFill>
            <a:srgbClr val="FFFFFF"/>
          </a:solidFill>
          <a:ln w="25400">
            <a:solidFill>
              <a:srgbClr val="0891B2"/>
            </a:solidFill>
            <a:prstDash val="solid"/>
          </a:ln>
        </p:spPr>
      </p:sp>
      <p:sp>
        <p:nvSpPr>
          <p:cNvPr id="7" name="Text 5"/>
          <p:cNvSpPr/>
          <p:nvPr/>
        </p:nvSpPr>
        <p:spPr>
          <a:xfrm>
            <a:off x="640080" y="2606040"/>
            <a:ext cx="3566160" cy="320040"/>
          </a:xfrm>
          <a:prstGeom prst="rect">
            <a:avLst/>
          </a:prstGeom>
          <a:noFill/>
          <a:ln/>
        </p:spPr>
        <p:txBody>
          <a:bodyPr wrap="square" rtlCol="0" anchor="ctr"/>
          <a:lstStyle/>
          <a:p>
            <a:pPr marL="0" indent="0" algn="ctr">
              <a:buNone/>
            </a:pPr>
            <a:r>
              <a:rPr lang="en-US" sz="1600" b="1" dirty="0">
                <a:solidFill>
                  <a:srgbClr val="0891B2"/>
                </a:solidFill>
                <a:latin typeface="Arial" pitchFamily="34" charset="0"/>
                <a:ea typeface="Arial" pitchFamily="34" charset="-122"/>
                <a:cs typeface="Arial" pitchFamily="34" charset="-120"/>
              </a:rPr>
              <a:t>How It Differs from GUI-Based OS</a:t>
            </a:r>
            <a:endParaRPr lang="en-US" sz="1600" dirty="0"/>
          </a:p>
        </p:txBody>
      </p:sp>
      <p:sp>
        <p:nvSpPr>
          <p:cNvPr id="8" name="Text 6"/>
          <p:cNvSpPr/>
          <p:nvPr/>
        </p:nvSpPr>
        <p:spPr>
          <a:xfrm>
            <a:off x="640080" y="2971800"/>
            <a:ext cx="3566160" cy="1691640"/>
          </a:xfrm>
          <a:prstGeom prst="rect">
            <a:avLst/>
          </a:prstGeom>
          <a:noFill/>
          <a:ln/>
        </p:spPr>
        <p:txBody>
          <a:bodyPr wrap="square"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Text-Based Interaction</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Commands are typed rather than clicked with a mouse</a:t>
            </a:r>
            <a:endParaRPr lang="en-US" sz="1300" dirty="0"/>
          </a:p>
          <a:p>
            <a:pPr marL="0" indent="0">
              <a:buNone/>
            </a:pPr>
            <a:r>
              <a:rPr lang="en-US" sz="1300" b="1" dirty="0">
                <a:solidFill>
                  <a:srgbClr val="212121"/>
                </a:solidFill>
                <a:latin typeface="Calibri" pitchFamily="34" charset="0"/>
                <a:ea typeface="Calibri" pitchFamily="34" charset="-122"/>
                <a:cs typeface="Calibri" pitchFamily="34" charset="-120"/>
              </a:rPr>
              <a:t>Simplified Functionality</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Focuses on core features without complex graphics</a:t>
            </a:r>
            <a:endParaRPr lang="en-US" sz="1300" dirty="0"/>
          </a:p>
          <a:p>
            <a:pPr marL="0" indent="0">
              <a:buNone/>
            </a:pPr>
            <a:r>
              <a:rPr lang="en-US" sz="1300" b="1" dirty="0">
                <a:solidFill>
                  <a:srgbClr val="212121"/>
                </a:solidFill>
                <a:latin typeface="Calibri" pitchFamily="34" charset="0"/>
                <a:ea typeface="Calibri" pitchFamily="34" charset="-122"/>
                <a:cs typeface="Calibri" pitchFamily="34" charset="-120"/>
              </a:rPr>
              <a:t>Direct System Control</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Provides immediate feedback and precise control over operations</a:t>
            </a:r>
            <a:endParaRPr lang="en-US" sz="1300" dirty="0"/>
          </a:p>
        </p:txBody>
      </p:sp>
      <p:sp>
        <p:nvSpPr>
          <p:cNvPr id="9" name="Shape 7"/>
          <p:cNvSpPr/>
          <p:nvPr/>
        </p:nvSpPr>
        <p:spPr>
          <a:xfrm>
            <a:off x="4754880" y="2468880"/>
            <a:ext cx="3931920" cy="2286000"/>
          </a:xfrm>
          <a:prstGeom prst="rect">
            <a:avLst/>
          </a:prstGeom>
          <a:solidFill>
            <a:srgbClr val="FFFFFF"/>
          </a:solidFill>
          <a:ln w="25400">
            <a:solidFill>
              <a:srgbClr val="2C5F2D"/>
            </a:solidFill>
            <a:prstDash val="solid"/>
          </a:ln>
        </p:spPr>
      </p:sp>
      <p:sp>
        <p:nvSpPr>
          <p:cNvPr id="10" name="Text 8"/>
          <p:cNvSpPr/>
          <p:nvPr/>
        </p:nvSpPr>
        <p:spPr>
          <a:xfrm>
            <a:off x="4937760" y="2606040"/>
            <a:ext cx="3566160" cy="320040"/>
          </a:xfrm>
          <a:prstGeom prst="rect">
            <a:avLst/>
          </a:prstGeom>
          <a:noFill/>
          <a:ln/>
        </p:spPr>
        <p:txBody>
          <a:bodyPr wrap="square" rtlCol="0" anchor="ctr"/>
          <a:lstStyle/>
          <a:p>
            <a:pPr marL="0" indent="0" algn="ctr">
              <a:buNone/>
            </a:pPr>
            <a:r>
              <a:rPr lang="en-US" sz="1600" b="1" dirty="0">
                <a:solidFill>
                  <a:srgbClr val="2C5F2D"/>
                </a:solidFill>
                <a:latin typeface="Arial" pitchFamily="34" charset="0"/>
                <a:ea typeface="Arial" pitchFamily="34" charset="-122"/>
                <a:cs typeface="Arial" pitchFamily="34" charset="-120"/>
              </a:rPr>
              <a:t>Why Terminal-Based Systems Are Used for Learning</a:t>
            </a:r>
            <a:endParaRPr lang="en-US" sz="1600" dirty="0"/>
          </a:p>
        </p:txBody>
      </p:sp>
      <p:sp>
        <p:nvSpPr>
          <p:cNvPr id="11" name="Text 9"/>
          <p:cNvSpPr/>
          <p:nvPr/>
        </p:nvSpPr>
        <p:spPr>
          <a:xfrm>
            <a:off x="4937760" y="2971800"/>
            <a:ext cx="3566160" cy="16916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 Removes visual complexity, focusing on core logic</a:t>
            </a:r>
            <a:endParaRPr lang="en-US" sz="1200" dirty="0"/>
          </a:p>
          <a:p>
            <a:pPr marL="0" indent="0">
              <a:buNone/>
            </a:pPr>
            <a:r>
              <a:rPr lang="en-US" sz="1200" dirty="0">
                <a:solidFill>
                  <a:srgbClr val="212121"/>
                </a:solidFill>
                <a:latin typeface="Calibri" pitchFamily="34" charset="0"/>
                <a:ea typeface="Calibri" pitchFamily="34" charset="-122"/>
                <a:cs typeface="Calibri" pitchFamily="34" charset="-120"/>
              </a:rPr>
              <a:t>• Easier to implement and understand for beginners</a:t>
            </a:r>
            <a:endParaRPr lang="en-US" sz="1200" dirty="0"/>
          </a:p>
          <a:p>
            <a:pPr marL="0" indent="0">
              <a:buNone/>
            </a:pPr>
            <a:r>
              <a:rPr lang="en-US" sz="1200" dirty="0">
                <a:solidFill>
                  <a:srgbClr val="212121"/>
                </a:solidFill>
                <a:latin typeface="Calibri" pitchFamily="34" charset="0"/>
                <a:ea typeface="Calibri" pitchFamily="34" charset="-122"/>
                <a:cs typeface="Calibri" pitchFamily="34" charset="-120"/>
              </a:rPr>
              <a:t>• Teaches command syntax and system interaction</a:t>
            </a:r>
            <a:endParaRPr lang="en-US" sz="1200" dirty="0"/>
          </a:p>
          <a:p>
            <a:pPr marL="0" indent="0">
              <a:buNone/>
            </a:pPr>
            <a:r>
              <a:rPr lang="en-US" sz="1200" dirty="0">
                <a:solidFill>
                  <a:srgbClr val="212121"/>
                </a:solidFill>
                <a:latin typeface="Calibri" pitchFamily="34" charset="0"/>
                <a:ea typeface="Calibri" pitchFamily="34" charset="-122"/>
                <a:cs typeface="Calibri" pitchFamily="34" charset="-120"/>
              </a:rPr>
              <a:t>• Builds strong foundation in programming logic</a:t>
            </a:r>
            <a:endParaRPr lang="en-US" sz="1200" dirty="0"/>
          </a:p>
          <a:p>
            <a:pPr marL="0" indent="0">
              <a:buNone/>
            </a:pPr>
            <a:r>
              <a:rPr lang="en-US" sz="1200" dirty="0">
                <a:solidFill>
                  <a:srgbClr val="212121"/>
                </a:solidFill>
                <a:latin typeface="Calibri" pitchFamily="34" charset="0"/>
                <a:ea typeface="Calibri" pitchFamily="34" charset="-122"/>
                <a:cs typeface="Calibri" pitchFamily="34" charset="-120"/>
              </a:rPr>
              <a:t>• Lightweight and runs on any system</a:t>
            </a:r>
            <a:endParaRPr lang="en-US" sz="1200" dirty="0"/>
          </a:p>
          <a:p>
            <a:pPr marL="0" indent="0">
              <a:buNone/>
            </a:pPr>
            <a:r>
              <a:rPr lang="en-US" sz="1200" dirty="0">
                <a:solidFill>
                  <a:srgbClr val="212121"/>
                </a:solidFill>
                <a:latin typeface="Calibri" pitchFamily="34" charset="0"/>
                <a:ea typeface="Calibri" pitchFamily="34" charset="-122"/>
                <a:cs typeface="Calibri" pitchFamily="34" charset="-120"/>
              </a:rPr>
              <a:t>• Prepares students for Linux/Unix environments
• Encourages precise, logical thinking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SYSTEM OVERVIEW</a:t>
            </a:r>
            <a:endParaRPr lang="en-US" sz="3600" dirty="0"/>
          </a:p>
        </p:txBody>
      </p:sp>
      <p:sp>
        <p:nvSpPr>
          <p:cNvPr id="3" name="Shape 1"/>
          <p:cNvSpPr/>
          <p:nvPr/>
        </p:nvSpPr>
        <p:spPr>
          <a:xfrm>
            <a:off x="457200" y="1097280"/>
            <a:ext cx="8229600" cy="1097280"/>
          </a:xfrm>
          <a:prstGeom prst="rect">
            <a:avLst/>
          </a:prstGeom>
          <a:solidFill>
            <a:srgbClr val="FFFFFF"/>
          </a:solidFill>
          <a:ln w="12700">
            <a:solidFill>
              <a:srgbClr val="1E2761"/>
            </a:solidFill>
            <a:prstDash val="solid"/>
          </a:ln>
        </p:spPr>
      </p:sp>
      <p:sp>
        <p:nvSpPr>
          <p:cNvPr id="4" name="Text 2"/>
          <p:cNvSpPr/>
          <p:nvPr/>
        </p:nvSpPr>
        <p:spPr>
          <a:xfrm>
            <a:off x="640080" y="1234440"/>
            <a:ext cx="7863840" cy="274320"/>
          </a:xfrm>
          <a:prstGeom prst="rect">
            <a:avLst/>
          </a:prstGeom>
          <a:noFill/>
          <a:ln/>
        </p:spPr>
        <p:txBody>
          <a:bodyPr wrap="square" rtlCol="0" anchor="ctr"/>
          <a:lstStyle/>
          <a:p>
            <a:pPr marL="0" indent="0">
              <a:buNone/>
            </a:pPr>
            <a:r>
              <a:rPr lang="en-US" sz="2000" b="1" dirty="0">
                <a:solidFill>
                  <a:srgbClr val="1E2761"/>
                </a:solidFill>
                <a:latin typeface="Arial" pitchFamily="34" charset="0"/>
                <a:ea typeface="Arial" pitchFamily="34" charset="-122"/>
                <a:cs typeface="Arial" pitchFamily="34" charset="-120"/>
              </a:rPr>
              <a:t>How the Mini OS Works</a:t>
            </a:r>
            <a:endParaRPr lang="en-US" sz="2000" dirty="0"/>
          </a:p>
        </p:txBody>
      </p:sp>
      <p:sp>
        <p:nvSpPr>
          <p:cNvPr id="5" name="Text 3"/>
          <p:cNvSpPr/>
          <p:nvPr/>
        </p:nvSpPr>
        <p:spPr>
          <a:xfrm>
            <a:off x="640080" y="1554480"/>
            <a:ext cx="7863840" cy="548640"/>
          </a:xfrm>
          <a:prstGeom prst="rect">
            <a:avLst/>
          </a:prstGeom>
          <a:noFill/>
          <a:ln/>
        </p:spPr>
        <p:txBody>
          <a:bodyPr wrap="square" rtlCol="0" anchor="ctr"/>
          <a:lstStyle/>
          <a:p>
            <a:pPr marL="0" indent="0">
              <a:buNone/>
            </a:pPr>
            <a:r>
              <a:rPr lang="en-US" sz="1500" dirty="0">
                <a:solidFill>
                  <a:srgbClr val="212121"/>
                </a:solidFill>
                <a:latin typeface="Calibri" pitchFamily="34" charset="0"/>
                <a:ea typeface="Calibri" pitchFamily="34" charset="-122"/>
                <a:cs typeface="Calibri" pitchFamily="34" charset="-120"/>
              </a:rPr>
              <a:t>The Mini OS operates in a continuous loop, accepting user commands, processing them, and displaying results. It simulates an environment where users can perform file operations, manage processes, and execute system-level tasks through simple text commands.</a:t>
            </a:r>
            <a:endParaRPr lang="en-US" sz="1500" dirty="0"/>
          </a:p>
        </p:txBody>
      </p:sp>
      <p:sp>
        <p:nvSpPr>
          <p:cNvPr id="6" name="Shape 4"/>
          <p:cNvSpPr/>
          <p:nvPr/>
        </p:nvSpPr>
        <p:spPr>
          <a:xfrm>
            <a:off x="1371600" y="2468880"/>
            <a:ext cx="1645920" cy="1097280"/>
          </a:xfrm>
          <a:prstGeom prst="rect">
            <a:avLst/>
          </a:prstGeom>
          <a:solidFill>
            <a:srgbClr val="0891B2"/>
          </a:solidFill>
          <a:ln w="12700">
            <a:solidFill>
              <a:srgbClr val="0891B2"/>
            </a:solidFill>
            <a:prstDash val="solid"/>
          </a:ln>
        </p:spPr>
      </p:sp>
      <p:sp>
        <p:nvSpPr>
          <p:cNvPr id="7" name="Text 5"/>
          <p:cNvSpPr/>
          <p:nvPr/>
        </p:nvSpPr>
        <p:spPr>
          <a:xfrm>
            <a:off x="1371600" y="2788920"/>
            <a:ext cx="164592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USER INPUT</a:t>
            </a:r>
            <a:endParaRPr lang="en-US" sz="1600" dirty="0"/>
          </a:p>
        </p:txBody>
      </p:sp>
      <p:sp>
        <p:nvSpPr>
          <p:cNvPr id="8" name="Shape 6"/>
          <p:cNvSpPr/>
          <p:nvPr/>
        </p:nvSpPr>
        <p:spPr>
          <a:xfrm>
            <a:off x="3108960" y="3017520"/>
            <a:ext cx="1097280" cy="0"/>
          </a:xfrm>
          <a:prstGeom prst="line">
            <a:avLst/>
          </a:prstGeom>
          <a:noFill/>
          <a:ln w="38100">
            <a:solidFill>
              <a:srgbClr val="212121"/>
            </a:solidFill>
            <a:prstDash val="solid"/>
            <a:tailEnd type="triangle"/>
          </a:ln>
        </p:spPr>
      </p:sp>
      <p:sp>
        <p:nvSpPr>
          <p:cNvPr id="9" name="Shape 7"/>
          <p:cNvSpPr/>
          <p:nvPr/>
        </p:nvSpPr>
        <p:spPr>
          <a:xfrm>
            <a:off x="3749040" y="2468880"/>
            <a:ext cx="1645920" cy="1097280"/>
          </a:xfrm>
          <a:prstGeom prst="rect">
            <a:avLst/>
          </a:prstGeom>
          <a:solidFill>
            <a:srgbClr val="2C5F2D"/>
          </a:solidFill>
          <a:ln w="12700">
            <a:solidFill>
              <a:srgbClr val="2C5F2D"/>
            </a:solidFill>
            <a:prstDash val="solid"/>
          </a:ln>
        </p:spPr>
      </p:sp>
      <p:sp>
        <p:nvSpPr>
          <p:cNvPr id="10" name="Text 8"/>
          <p:cNvSpPr/>
          <p:nvPr/>
        </p:nvSpPr>
        <p:spPr>
          <a:xfrm>
            <a:off x="3749040" y="2697480"/>
            <a:ext cx="1645920" cy="64008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COMMAND</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PROCESSING</a:t>
            </a:r>
            <a:endParaRPr lang="en-US" sz="1500" dirty="0"/>
          </a:p>
        </p:txBody>
      </p:sp>
      <p:sp>
        <p:nvSpPr>
          <p:cNvPr id="11" name="Shape 9"/>
          <p:cNvSpPr/>
          <p:nvPr/>
        </p:nvSpPr>
        <p:spPr>
          <a:xfrm>
            <a:off x="5486400" y="3017520"/>
            <a:ext cx="1097280" cy="0"/>
          </a:xfrm>
          <a:prstGeom prst="line">
            <a:avLst/>
          </a:prstGeom>
          <a:noFill/>
          <a:ln w="38100">
            <a:solidFill>
              <a:srgbClr val="212121"/>
            </a:solidFill>
            <a:prstDash val="solid"/>
            <a:tailEnd type="triangle"/>
          </a:ln>
        </p:spPr>
      </p:sp>
      <p:sp>
        <p:nvSpPr>
          <p:cNvPr id="12" name="Shape 10"/>
          <p:cNvSpPr/>
          <p:nvPr/>
        </p:nvSpPr>
        <p:spPr>
          <a:xfrm>
            <a:off x="6126480" y="2468880"/>
            <a:ext cx="1645920" cy="1097280"/>
          </a:xfrm>
          <a:prstGeom prst="rect">
            <a:avLst/>
          </a:prstGeom>
          <a:solidFill>
            <a:srgbClr val="0891B2"/>
          </a:solidFill>
          <a:ln w="12700">
            <a:solidFill>
              <a:srgbClr val="0891B2"/>
            </a:solidFill>
            <a:prstDash val="solid"/>
          </a:ln>
        </p:spPr>
      </p:sp>
      <p:sp>
        <p:nvSpPr>
          <p:cNvPr id="13" name="Text 11"/>
          <p:cNvSpPr/>
          <p:nvPr/>
        </p:nvSpPr>
        <p:spPr>
          <a:xfrm>
            <a:off x="6126480" y="2788920"/>
            <a:ext cx="164592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OUTPUT</a:t>
            </a:r>
            <a:endParaRPr lang="en-US" sz="1600" dirty="0"/>
          </a:p>
        </p:txBody>
      </p:sp>
      <p:sp>
        <p:nvSpPr>
          <p:cNvPr id="14" name="Text 12"/>
          <p:cNvSpPr/>
          <p:nvPr/>
        </p:nvSpPr>
        <p:spPr>
          <a:xfrm>
            <a:off x="457200" y="3703320"/>
            <a:ext cx="8229600" cy="274320"/>
          </a:xfrm>
          <a:prstGeom prst="rect">
            <a:avLst/>
          </a:prstGeom>
          <a:noFill/>
          <a:ln/>
        </p:spPr>
        <p:txBody>
          <a:bodyPr wrap="square" rtlCol="0" anchor="ctr"/>
          <a:lstStyle/>
          <a:p>
            <a:pPr marL="0" indent="0">
              <a:buNone/>
            </a:pPr>
            <a:r>
              <a:rPr lang="en-US" sz="2000" b="1" dirty="0">
                <a:solidFill>
                  <a:srgbClr val="1E2761"/>
                </a:solidFill>
                <a:latin typeface="Arial" pitchFamily="34" charset="0"/>
                <a:ea typeface="Arial" pitchFamily="34" charset="-122"/>
                <a:cs typeface="Arial" pitchFamily="34" charset="-120"/>
              </a:rPr>
              <a:t>Basic Workflow Explanation</a:t>
            </a:r>
            <a:endParaRPr lang="en-US" sz="2000" dirty="0"/>
          </a:p>
        </p:txBody>
      </p:sp>
      <p:sp>
        <p:nvSpPr>
          <p:cNvPr id="15" name="Text 13"/>
          <p:cNvSpPr/>
          <p:nvPr/>
        </p:nvSpPr>
        <p:spPr>
          <a:xfrm>
            <a:off x="640080" y="4154424"/>
            <a:ext cx="7863840" cy="731520"/>
          </a:xfrm>
          <a:prstGeom prst="rect">
            <a:avLst/>
          </a:prstGeom>
          <a:noFill/>
          <a:ln/>
        </p:spPr>
        <p:txBody>
          <a:bodyPr wrap="square"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1. </a:t>
            </a:r>
            <a:r>
              <a:rPr lang="en-US" sz="1200" b="1" dirty="0">
                <a:solidFill>
                  <a:srgbClr val="212121"/>
                </a:solidFill>
                <a:latin typeface="Calibri" pitchFamily="34" charset="0"/>
                <a:ea typeface="Calibri" pitchFamily="34" charset="-122"/>
                <a:cs typeface="Calibri" pitchFamily="34" charset="-120"/>
              </a:rPr>
              <a:t>User Input: </a:t>
            </a:r>
            <a:r>
              <a:rPr lang="en-US" sz="1200" dirty="0">
                <a:solidFill>
                  <a:srgbClr val="212121"/>
                </a:solidFill>
                <a:latin typeface="Calibri" pitchFamily="34" charset="0"/>
                <a:ea typeface="Calibri" pitchFamily="34" charset="-122"/>
                <a:cs typeface="Calibri" pitchFamily="34" charset="-120"/>
              </a:rPr>
              <a:t>User types a command at the prompt (e.g., "create file.txt")</a:t>
            </a:r>
            <a:endParaRPr lang="en-US" sz="1200" dirty="0"/>
          </a:p>
          <a:p>
            <a:pPr marL="0" indent="0">
              <a:buNone/>
            </a:pPr>
            <a:r>
              <a:rPr lang="en-US" sz="1200" b="1" dirty="0">
                <a:solidFill>
                  <a:srgbClr val="212121"/>
                </a:solidFill>
                <a:latin typeface="Calibri" pitchFamily="34" charset="0"/>
                <a:ea typeface="Calibri" pitchFamily="34" charset="-122"/>
                <a:cs typeface="Calibri" pitchFamily="34" charset="-120"/>
              </a:rPr>
              <a:t>2. Command Processing: </a:t>
            </a:r>
            <a:r>
              <a:rPr lang="en-US" sz="1200" dirty="0">
                <a:solidFill>
                  <a:srgbClr val="212121"/>
                </a:solidFill>
                <a:latin typeface="Calibri" pitchFamily="34" charset="0"/>
                <a:ea typeface="Calibri" pitchFamily="34" charset="-122"/>
                <a:cs typeface="Calibri" pitchFamily="34" charset="-120"/>
              </a:rPr>
              <a:t>The system parses the command, identifies the operation and parameters, validates syntax, and executes the corresponding function</a:t>
            </a:r>
            <a:endParaRPr lang="en-US" sz="1200" dirty="0"/>
          </a:p>
          <a:p>
            <a:pPr marL="0" indent="0">
              <a:buNone/>
            </a:pPr>
            <a:r>
              <a:rPr lang="en-US" sz="1200" b="1" dirty="0">
                <a:solidFill>
                  <a:srgbClr val="212121"/>
                </a:solidFill>
                <a:latin typeface="Calibri" pitchFamily="34" charset="0"/>
                <a:ea typeface="Calibri" pitchFamily="34" charset="-122"/>
                <a:cs typeface="Calibri" pitchFamily="34" charset="-120"/>
              </a:rPr>
              <a:t>3. Output: </a:t>
            </a:r>
            <a:r>
              <a:rPr lang="en-US" sz="1200" dirty="0">
                <a:solidFill>
                  <a:srgbClr val="212121"/>
                </a:solidFill>
                <a:latin typeface="Calibri" pitchFamily="34" charset="0"/>
                <a:ea typeface="Calibri" pitchFamily="34" charset="-122"/>
                <a:cs typeface="Calibri" pitchFamily="34" charset="-120"/>
              </a:rPr>
              <a:t>The system displays the result, error message, or confirmation, then returns to the command prompt ready for the next input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KEY FEATURES</a:t>
            </a:r>
            <a:endParaRPr lang="en-US" sz="3600" dirty="0"/>
          </a:p>
        </p:txBody>
      </p:sp>
      <p:sp>
        <p:nvSpPr>
          <p:cNvPr id="4" name="Shape 2"/>
          <p:cNvSpPr/>
          <p:nvPr/>
        </p:nvSpPr>
        <p:spPr>
          <a:xfrm>
            <a:off x="288387" y="1097280"/>
            <a:ext cx="260253" cy="4046220"/>
          </a:xfrm>
          <a:prstGeom prst="rect">
            <a:avLst/>
          </a:prstGeom>
          <a:solidFill>
            <a:srgbClr val="0891B2"/>
          </a:solidFill>
          <a:ln w="12700">
            <a:solidFill>
              <a:srgbClr val="333333"/>
            </a:solidFill>
            <a:prstDash val="solid"/>
          </a:ln>
        </p:spPr>
      </p:sp>
      <p:sp>
        <p:nvSpPr>
          <p:cNvPr id="5" name="Text 3"/>
          <p:cNvSpPr/>
          <p:nvPr/>
        </p:nvSpPr>
        <p:spPr>
          <a:xfrm>
            <a:off x="640080" y="981221"/>
            <a:ext cx="3798277" cy="465992"/>
          </a:xfrm>
          <a:prstGeom prst="rect">
            <a:avLst/>
          </a:prstGeom>
          <a:noFill/>
          <a:ln/>
        </p:spPr>
        <p:txBody>
          <a:bodyPr wrap="square" rtlCol="0" anchor="ctr"/>
          <a:lstStyle/>
          <a:p>
            <a:pPr marL="0" indent="0">
              <a:buNone/>
            </a:pPr>
            <a:r>
              <a:rPr lang="en-US" sz="1800" b="1" dirty="0">
                <a:solidFill>
                  <a:srgbClr val="0891B2"/>
                </a:solidFill>
                <a:latin typeface="Arial" pitchFamily="34" charset="0"/>
                <a:cs typeface="Arial" pitchFamily="34" charset="-120"/>
              </a:rPr>
              <a:t>MAIN FILE</a:t>
            </a:r>
          </a:p>
        </p:txBody>
      </p:sp>
      <p:sp>
        <p:nvSpPr>
          <p:cNvPr id="6" name="Text 4"/>
          <p:cNvSpPr/>
          <p:nvPr/>
        </p:nvSpPr>
        <p:spPr>
          <a:xfrm>
            <a:off x="731520" y="1600200"/>
            <a:ext cx="3566160" cy="1097280"/>
          </a:xfrm>
          <a:prstGeom prst="rect">
            <a:avLst/>
          </a:prstGeom>
          <a:noFill/>
          <a:ln/>
        </p:spPr>
        <p:txBody>
          <a:bodyPr wrap="square" rtlCol="0" anchor="ctr"/>
          <a:lstStyle/>
          <a:p>
            <a:pPr marL="0" indent="0">
              <a:buNone/>
            </a:pPr>
            <a:endParaRPr lang="en-US" sz="1400" dirty="0"/>
          </a:p>
        </p:txBody>
      </p:sp>
      <p:sp>
        <p:nvSpPr>
          <p:cNvPr id="9" name="Text 7"/>
          <p:cNvSpPr/>
          <p:nvPr/>
        </p:nvSpPr>
        <p:spPr>
          <a:xfrm>
            <a:off x="4937760" y="1280160"/>
            <a:ext cx="3566160" cy="274320"/>
          </a:xfrm>
          <a:prstGeom prst="rect">
            <a:avLst/>
          </a:prstGeom>
          <a:noFill/>
          <a:ln/>
        </p:spPr>
        <p:txBody>
          <a:bodyPr wrap="square" rtlCol="0" anchor="ctr"/>
          <a:lstStyle/>
          <a:p>
            <a:pPr marL="0" indent="0">
              <a:buNone/>
            </a:pPr>
            <a:endParaRPr lang="en-US" sz="1800" dirty="0"/>
          </a:p>
        </p:txBody>
      </p:sp>
      <p:sp>
        <p:nvSpPr>
          <p:cNvPr id="10" name="Text 8"/>
          <p:cNvSpPr/>
          <p:nvPr/>
        </p:nvSpPr>
        <p:spPr>
          <a:xfrm>
            <a:off x="4937760" y="1600200"/>
            <a:ext cx="3566160" cy="1097280"/>
          </a:xfrm>
          <a:prstGeom prst="rect">
            <a:avLst/>
          </a:prstGeom>
          <a:noFill/>
          <a:ln/>
        </p:spPr>
        <p:txBody>
          <a:bodyPr wrap="square" rtlCol="0" anchor="ctr"/>
          <a:lstStyle/>
          <a:p>
            <a:pPr marL="0" indent="0">
              <a:buNone/>
            </a:pPr>
            <a:endParaRPr lang="en-US" sz="1400" dirty="0"/>
          </a:p>
        </p:txBody>
      </p:sp>
      <p:sp>
        <p:nvSpPr>
          <p:cNvPr id="13" name="Text 11"/>
          <p:cNvSpPr/>
          <p:nvPr/>
        </p:nvSpPr>
        <p:spPr>
          <a:xfrm>
            <a:off x="731520" y="3200400"/>
            <a:ext cx="3566160" cy="274320"/>
          </a:xfrm>
          <a:prstGeom prst="rect">
            <a:avLst/>
          </a:prstGeom>
          <a:noFill/>
          <a:ln/>
        </p:spPr>
        <p:txBody>
          <a:bodyPr wrap="square" rtlCol="0" anchor="ctr"/>
          <a:lstStyle/>
          <a:p>
            <a:pPr marL="0" indent="0">
              <a:buNone/>
            </a:pPr>
            <a:endParaRPr lang="en-US" sz="1800" dirty="0"/>
          </a:p>
        </p:txBody>
      </p:sp>
      <p:sp>
        <p:nvSpPr>
          <p:cNvPr id="14" name="Text 12"/>
          <p:cNvSpPr/>
          <p:nvPr/>
        </p:nvSpPr>
        <p:spPr>
          <a:xfrm>
            <a:off x="731520" y="3520440"/>
            <a:ext cx="3566160" cy="1097280"/>
          </a:xfrm>
          <a:prstGeom prst="rect">
            <a:avLst/>
          </a:prstGeom>
          <a:noFill/>
          <a:ln/>
        </p:spPr>
        <p:txBody>
          <a:bodyPr wrap="square" rtlCol="0" anchor="ctr"/>
          <a:lstStyle/>
          <a:p>
            <a:pPr marL="0" indent="0">
              <a:buNone/>
            </a:pPr>
            <a:endParaRPr lang="en-US" sz="1400" dirty="0"/>
          </a:p>
        </p:txBody>
      </p:sp>
      <p:sp>
        <p:nvSpPr>
          <p:cNvPr id="17" name="Text 15"/>
          <p:cNvSpPr/>
          <p:nvPr/>
        </p:nvSpPr>
        <p:spPr>
          <a:xfrm>
            <a:off x="4937760" y="3200400"/>
            <a:ext cx="3566160" cy="274320"/>
          </a:xfrm>
          <a:prstGeom prst="rect">
            <a:avLst/>
          </a:prstGeom>
          <a:noFill/>
          <a:ln/>
        </p:spPr>
        <p:txBody>
          <a:bodyPr wrap="square" rtlCol="0" anchor="ctr"/>
          <a:lstStyle/>
          <a:p>
            <a:pPr marL="0" indent="0">
              <a:buNone/>
            </a:pPr>
            <a:endParaRPr lang="en-US" sz="1800" dirty="0"/>
          </a:p>
        </p:txBody>
      </p:sp>
      <p:sp>
        <p:nvSpPr>
          <p:cNvPr id="18" name="Text 16"/>
          <p:cNvSpPr/>
          <p:nvPr/>
        </p:nvSpPr>
        <p:spPr>
          <a:xfrm>
            <a:off x="4937760" y="3520440"/>
            <a:ext cx="3566160" cy="1097280"/>
          </a:xfrm>
          <a:prstGeom prst="rect">
            <a:avLst/>
          </a:prstGeom>
          <a:noFill/>
          <a:ln/>
        </p:spPr>
        <p:txBody>
          <a:bodyPr wrap="square" rtlCol="0" anchor="ctr"/>
          <a:lstStyle/>
          <a:p>
            <a:pPr marL="0" indent="0">
              <a:buNone/>
            </a:pPr>
            <a:endParaRPr lang="en-US" sz="1400" dirty="0"/>
          </a:p>
        </p:txBody>
      </p:sp>
      <p:pic>
        <p:nvPicPr>
          <p:cNvPr id="19" name="Picture 18"/>
          <p:cNvPicPr>
            <a:picLocks noChangeAspect="1"/>
          </p:cNvPicPr>
          <p:nvPr/>
        </p:nvPicPr>
        <p:blipFill>
          <a:blip r:embed="rId3"/>
          <a:stretch>
            <a:fillRect/>
          </a:stretch>
        </p:blipFill>
        <p:spPr>
          <a:xfrm>
            <a:off x="3825006" y="1097280"/>
            <a:ext cx="5122047" cy="3611197"/>
          </a:xfrm>
          <a:prstGeom prst="rect">
            <a:avLst/>
          </a:prstGeom>
        </p:spPr>
      </p:pic>
      <p:sp>
        <p:nvSpPr>
          <p:cNvPr id="22" name="TextBox 21">
            <a:extLst>
              <a:ext uri="{FF2B5EF4-FFF2-40B4-BE49-F238E27FC236}">
                <a16:creationId xmlns:a16="http://schemas.microsoft.com/office/drawing/2014/main" id="{1918B2B6-47AF-7582-3E32-9FBDD764CB74}"/>
              </a:ext>
            </a:extLst>
          </p:cNvPr>
          <p:cNvSpPr txBox="1"/>
          <p:nvPr/>
        </p:nvSpPr>
        <p:spPr>
          <a:xfrm>
            <a:off x="640080" y="1417320"/>
            <a:ext cx="2637693" cy="3139321"/>
          </a:xfrm>
          <a:prstGeom prst="rect">
            <a:avLst/>
          </a:prstGeom>
          <a:noFill/>
        </p:spPr>
        <p:txBody>
          <a:bodyPr wrap="square" rtlCol="0">
            <a:spAutoFit/>
          </a:bodyPr>
          <a:lstStyle/>
          <a:p>
            <a:r>
              <a:rPr lang="en-US" sz="1100" b="1" dirty="0" err="1"/>
              <a:t>Initialisation</a:t>
            </a:r>
            <a:r>
              <a:rPr lang="en-US" sz="1100" b="1" dirty="0"/>
              <a:t>:</a:t>
            </a:r>
            <a:r>
              <a:rPr lang="en-US" sz="1100" dirty="0"/>
              <a:t> Imports external modules and displays the system welcome banner.</a:t>
            </a:r>
          </a:p>
          <a:p>
            <a:endParaRPr lang="en-US" sz="1100" dirty="0"/>
          </a:p>
          <a:p>
            <a:r>
              <a:rPr lang="en-US" sz="1100" b="1" dirty="0"/>
              <a:t>Input Parsing:</a:t>
            </a:r>
            <a:r>
              <a:rPr lang="en-US" sz="1100" dirty="0"/>
              <a:t> * Uses </a:t>
            </a:r>
            <a:r>
              <a:rPr lang="en-US" sz="1100" dirty="0" err="1"/>
              <a:t>fgets</a:t>
            </a:r>
            <a:r>
              <a:rPr lang="en-US" sz="1100" dirty="0"/>
              <a:t>() to capture user input safely.</a:t>
            </a:r>
          </a:p>
          <a:p>
            <a:r>
              <a:rPr lang="en-US" sz="1100" dirty="0"/>
              <a:t>Uses </a:t>
            </a:r>
            <a:r>
              <a:rPr lang="en-US" sz="1100" dirty="0" err="1"/>
              <a:t>strtok</a:t>
            </a:r>
            <a:r>
              <a:rPr lang="en-US" sz="1100" dirty="0"/>
              <a:t>() to </a:t>
            </a:r>
            <a:r>
              <a:rPr lang="en-US" sz="1100" dirty="0" err="1"/>
              <a:t>tokenise</a:t>
            </a:r>
            <a:r>
              <a:rPr lang="en-US" sz="1100" dirty="0"/>
              <a:t> the string, separating the </a:t>
            </a:r>
            <a:r>
              <a:rPr lang="en-US" sz="1100" b="1" dirty="0"/>
              <a:t>command</a:t>
            </a:r>
            <a:r>
              <a:rPr lang="en-US" sz="1100" dirty="0"/>
              <a:t> (e.g., touch) from the </a:t>
            </a:r>
            <a:r>
              <a:rPr lang="en-US" sz="1100" b="1" dirty="0"/>
              <a:t>argument</a:t>
            </a:r>
            <a:r>
              <a:rPr lang="en-US" sz="1100" dirty="0"/>
              <a:t> (e.g., file.txt).</a:t>
            </a:r>
          </a:p>
          <a:p>
            <a:endParaRPr lang="en-US" sz="1100" dirty="0"/>
          </a:p>
          <a:p>
            <a:r>
              <a:rPr lang="en-US" sz="1100" b="1" dirty="0"/>
              <a:t>Execution Logic (The Switchboard):</a:t>
            </a:r>
            <a:r>
              <a:rPr lang="en-US" sz="1100" dirty="0"/>
              <a:t> A conditional logic block maps user strings to specific C functions defined in other modules.</a:t>
            </a:r>
          </a:p>
          <a:p>
            <a:endParaRPr lang="en-US" sz="1100" dirty="0"/>
          </a:p>
          <a:p>
            <a:r>
              <a:rPr lang="en-US" sz="1100" b="1" dirty="0"/>
              <a:t>Continuous Loop:</a:t>
            </a:r>
            <a:r>
              <a:rPr lang="en-US" sz="1100" dirty="0"/>
              <a:t> The while(1) structure ensures the OS remains active until the explicit exit command is received.</a:t>
            </a:r>
          </a:p>
          <a:p>
            <a:endParaRPr lang="en-IN"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6"/>
          <p:cNvSpPr/>
          <p:nvPr/>
        </p:nvSpPr>
        <p:spPr>
          <a:xfrm flipH="1">
            <a:off x="295422" y="993503"/>
            <a:ext cx="260252" cy="4149997"/>
          </a:xfrm>
          <a:prstGeom prst="rect">
            <a:avLst/>
          </a:prstGeom>
          <a:solidFill>
            <a:srgbClr val="2C5F2D"/>
          </a:solidFill>
          <a:ln w="12700">
            <a:solidFill>
              <a:srgbClr val="333333"/>
            </a:solidFill>
            <a:prstDash val="solid"/>
          </a:ln>
        </p:spPr>
      </p:sp>
      <p:sp>
        <p:nvSpPr>
          <p:cNvPr id="7" name="TextBox 6">
            <a:extLst>
              <a:ext uri="{FF2B5EF4-FFF2-40B4-BE49-F238E27FC236}">
                <a16:creationId xmlns:a16="http://schemas.microsoft.com/office/drawing/2014/main" id="{28526295-885B-D926-B01D-BF3E370A0350}"/>
              </a:ext>
            </a:extLst>
          </p:cNvPr>
          <p:cNvSpPr txBox="1"/>
          <p:nvPr/>
        </p:nvSpPr>
        <p:spPr>
          <a:xfrm>
            <a:off x="724486" y="993503"/>
            <a:ext cx="4572000" cy="369332"/>
          </a:xfrm>
          <a:prstGeom prst="rect">
            <a:avLst/>
          </a:prstGeom>
          <a:noFill/>
        </p:spPr>
        <p:txBody>
          <a:bodyPr wrap="square">
            <a:spAutoFit/>
          </a:bodyPr>
          <a:lstStyle/>
          <a:p>
            <a:pPr marL="0" indent="0">
              <a:buNone/>
            </a:pPr>
            <a:r>
              <a:rPr lang="en-US" sz="1800" b="1" dirty="0">
                <a:solidFill>
                  <a:schemeClr val="accent6">
                    <a:lumMod val="50000"/>
                  </a:schemeClr>
                </a:solidFill>
                <a:latin typeface="Arial" pitchFamily="34" charset="0"/>
                <a:cs typeface="Arial" pitchFamily="34" charset="-120"/>
              </a:rPr>
              <a:t>FILE SYSTEM</a:t>
            </a:r>
          </a:p>
        </p:txBody>
      </p:sp>
      <p:pic>
        <p:nvPicPr>
          <p:cNvPr id="10" name="Picture 9">
            <a:extLst>
              <a:ext uri="{FF2B5EF4-FFF2-40B4-BE49-F238E27FC236}">
                <a16:creationId xmlns:a16="http://schemas.microsoft.com/office/drawing/2014/main" id="{54C9E801-C85B-E0DC-A796-358DBBFA2184}"/>
              </a:ext>
            </a:extLst>
          </p:cNvPr>
          <p:cNvPicPr>
            <a:picLocks noChangeAspect="1"/>
          </p:cNvPicPr>
          <p:nvPr/>
        </p:nvPicPr>
        <p:blipFill>
          <a:blip r:embed="rId2"/>
          <a:stretch>
            <a:fillRect/>
          </a:stretch>
        </p:blipFill>
        <p:spPr>
          <a:xfrm>
            <a:off x="3158196" y="1294226"/>
            <a:ext cx="5739618" cy="3462861"/>
          </a:xfrm>
          <a:prstGeom prst="rect">
            <a:avLst/>
          </a:prstGeom>
        </p:spPr>
      </p:pic>
      <p:sp>
        <p:nvSpPr>
          <p:cNvPr id="11" name="TextBox 10">
            <a:extLst>
              <a:ext uri="{FF2B5EF4-FFF2-40B4-BE49-F238E27FC236}">
                <a16:creationId xmlns:a16="http://schemas.microsoft.com/office/drawing/2014/main" id="{E2A78BEC-F2B3-949E-E078-097A57A607DD}"/>
              </a:ext>
            </a:extLst>
          </p:cNvPr>
          <p:cNvSpPr txBox="1"/>
          <p:nvPr/>
        </p:nvSpPr>
        <p:spPr>
          <a:xfrm>
            <a:off x="555674" y="1451810"/>
            <a:ext cx="2089052" cy="430887"/>
          </a:xfrm>
          <a:prstGeom prst="rect">
            <a:avLst/>
          </a:prstGeom>
          <a:noFill/>
        </p:spPr>
        <p:txBody>
          <a:bodyPr wrap="square" rtlCol="0">
            <a:spAutoFit/>
          </a:bodyPr>
          <a:lstStyle/>
          <a:p>
            <a:endParaRPr lang="en-IN" sz="1100" dirty="0"/>
          </a:p>
          <a:p>
            <a:endParaRPr lang="en-IN" sz="1100" dirty="0"/>
          </a:p>
        </p:txBody>
      </p:sp>
      <p:sp>
        <p:nvSpPr>
          <p:cNvPr id="15" name="Rectangle 3">
            <a:extLst>
              <a:ext uri="{FF2B5EF4-FFF2-40B4-BE49-F238E27FC236}">
                <a16:creationId xmlns:a16="http://schemas.microsoft.com/office/drawing/2014/main" id="{97222F8B-E39A-6A13-9E31-4908F849D612}"/>
              </a:ext>
            </a:extLst>
          </p:cNvPr>
          <p:cNvSpPr>
            <a:spLocks noChangeArrowheads="1"/>
          </p:cNvSpPr>
          <p:nvPr/>
        </p:nvSpPr>
        <p:spPr bwMode="auto">
          <a:xfrm rot="10800000" flipV="1">
            <a:off x="703384" y="1531686"/>
            <a:ext cx="2349303"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File Creation:</a:t>
            </a:r>
            <a:r>
              <a:rPr kumimoji="0" lang="en-US" altLang="en-US" sz="1100" b="0" i="0" u="none" strike="noStrike" cap="none" normalizeH="0" baseline="0" dirty="0">
                <a:ln>
                  <a:noFill/>
                </a:ln>
                <a:solidFill>
                  <a:schemeClr val="tx1"/>
                </a:solidFill>
                <a:effectLst/>
                <a:latin typeface="Arial" panose="020B0604020202020204" pitchFamily="34" charset="0"/>
              </a:rPr>
              <a:t> Implements a </a:t>
            </a:r>
            <a:r>
              <a:rPr kumimoji="0" lang="en-US" altLang="en-US" sz="1100" b="0" i="0" u="none" strike="noStrike" cap="none" normalizeH="0" baseline="0" dirty="0">
                <a:ln>
                  <a:noFill/>
                </a:ln>
                <a:solidFill>
                  <a:schemeClr val="tx1"/>
                </a:solidFill>
                <a:effectLst/>
                <a:latin typeface="Arial Unicode MS"/>
              </a:rPr>
              <a:t>create file</a:t>
            </a:r>
            <a:r>
              <a:rPr kumimoji="0" lang="en-US" altLang="en-US" sz="1100" b="0" i="0" u="none" strike="noStrike" cap="none" normalizeH="0" baseline="0" dirty="0">
                <a:ln>
                  <a:noFill/>
                </a:ln>
                <a:solidFill>
                  <a:schemeClr val="tx1"/>
                </a:solidFill>
                <a:effectLst/>
              </a:rPr>
              <a:t> to </a:t>
            </a:r>
            <a:r>
              <a:rPr kumimoji="0" lang="en-US" altLang="en-US" sz="1100" b="0" i="0" u="none" strike="noStrike" cap="none" normalizeH="0" baseline="0" dirty="0" err="1">
                <a:ln>
                  <a:noFill/>
                </a:ln>
                <a:solidFill>
                  <a:schemeClr val="tx1"/>
                </a:solidFill>
                <a:effectLst/>
              </a:rPr>
              <a:t>init</a:t>
            </a:r>
            <a:r>
              <a:rPr kumimoji="0" lang="en-US" altLang="en-US" sz="1100" b="0" i="0" u="none" strike="noStrike" cap="none" normalizeH="0" baseline="0" dirty="0">
                <a:ln>
                  <a:noFill/>
                </a:ln>
                <a:solidFill>
                  <a:schemeClr val="tx1"/>
                </a:solidFill>
                <a:effectLst/>
              </a:rPr>
              <a:t> new files using the </a:t>
            </a:r>
            <a:r>
              <a:rPr kumimoji="0" lang="en-US" altLang="en-US" sz="1100" b="0" i="0" u="none" strike="noStrike" cap="none" normalizeH="0" baseline="0" dirty="0" err="1">
                <a:ln>
                  <a:noFill/>
                </a:ln>
                <a:solidFill>
                  <a:schemeClr val="tx1"/>
                </a:solidFill>
                <a:effectLst/>
                <a:latin typeface="Arial Unicode MS"/>
              </a:rPr>
              <a:t>fopen</a:t>
            </a:r>
            <a:r>
              <a:rPr kumimoji="0" lang="en-US" altLang="en-US" sz="1100" b="0" i="0" u="none" strike="noStrike" cap="none" normalizeH="0" baseline="0" dirty="0">
                <a:ln>
                  <a:noFill/>
                </a:ln>
                <a:solidFill>
                  <a:schemeClr val="tx1"/>
                </a:solidFill>
                <a:effectLst/>
              </a:rPr>
              <a:t> "write" mode.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File Deletion:</a:t>
            </a:r>
            <a:r>
              <a:rPr kumimoji="0" lang="en-US" altLang="en-US" sz="1100" b="0" i="0" u="none" strike="noStrike" cap="none" normalizeH="0" baseline="0" dirty="0">
                <a:ln>
                  <a:noFill/>
                </a:ln>
                <a:solidFill>
                  <a:schemeClr val="tx1"/>
                </a:solidFill>
                <a:effectLst/>
                <a:latin typeface="Arial" panose="020B0604020202020204" pitchFamily="34" charset="0"/>
              </a:rPr>
              <a:t> Employs </a:t>
            </a:r>
            <a:r>
              <a:rPr kumimoji="0" lang="en-US" altLang="en-US" sz="1100" b="0" i="0" u="none" strike="noStrike" cap="none" normalizeH="0" baseline="0" dirty="0" err="1">
                <a:ln>
                  <a:noFill/>
                </a:ln>
                <a:solidFill>
                  <a:schemeClr val="tx1"/>
                </a:solidFill>
                <a:effectLst/>
                <a:latin typeface="Arial Unicode MS"/>
              </a:rPr>
              <a:t>delete_file</a:t>
            </a:r>
            <a:r>
              <a:rPr kumimoji="0" lang="en-US" altLang="en-US" sz="1100" b="0" i="0" u="none" strike="noStrike" cap="none" normalizeH="0" baseline="0" dirty="0">
                <a:ln>
                  <a:noFill/>
                </a:ln>
                <a:solidFill>
                  <a:schemeClr val="tx1"/>
                </a:solidFill>
                <a:effectLst/>
              </a:rPr>
              <a:t> to invoke system-level </a:t>
            </a:r>
            <a:r>
              <a:rPr kumimoji="0" lang="en-US" altLang="en-US" sz="1100" b="0" i="0" u="none" strike="noStrike" cap="none" normalizeH="0" baseline="0" dirty="0">
                <a:ln>
                  <a:noFill/>
                </a:ln>
                <a:solidFill>
                  <a:schemeClr val="tx1"/>
                </a:solidFill>
                <a:effectLst/>
                <a:latin typeface="Arial Unicode MS"/>
              </a:rPr>
              <a:t>remove</a:t>
            </a:r>
            <a:r>
              <a:rPr kumimoji="0" lang="en-US" altLang="en-US" sz="1100" b="0" i="0" u="none" strike="noStrike" cap="none" normalizeH="0" baseline="0" dirty="0">
                <a:ln>
                  <a:noFill/>
                </a:ln>
                <a:solidFill>
                  <a:schemeClr val="tx1"/>
                </a:solidFill>
                <a:effectLst/>
              </a:rPr>
              <a:t> calls based on user input.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Directory Listing:</a:t>
            </a:r>
            <a:r>
              <a:rPr kumimoji="0" lang="en-US" altLang="en-US" sz="1100" b="0" i="0" u="none" strike="noStrike" cap="none" normalizeH="0" baseline="0" dirty="0">
                <a:ln>
                  <a:noFill/>
                </a:ln>
                <a:solidFill>
                  <a:schemeClr val="tx1"/>
                </a:solidFill>
                <a:effectLst/>
                <a:latin typeface="Arial" panose="020B0604020202020204" pitchFamily="34" charset="0"/>
              </a:rPr>
              <a:t> Uses </a:t>
            </a:r>
            <a:r>
              <a:rPr kumimoji="0" lang="en-US" altLang="en-US" sz="1100" b="0" i="0" u="none" strike="noStrike" cap="none" normalizeH="0" baseline="0" dirty="0" err="1">
                <a:ln>
                  <a:noFill/>
                </a:ln>
                <a:solidFill>
                  <a:schemeClr val="tx1"/>
                </a:solidFill>
                <a:effectLst/>
                <a:latin typeface="Arial Unicode MS"/>
              </a:rPr>
              <a:t>list_files</a:t>
            </a:r>
            <a:r>
              <a:rPr kumimoji="0" lang="en-US" altLang="en-US" sz="1100" b="0" i="0" u="none" strike="noStrike" cap="none" normalizeH="0" baseline="0" dirty="0">
                <a:ln>
                  <a:noFill/>
                </a:ln>
                <a:solidFill>
                  <a:schemeClr val="tx1"/>
                </a:solidFill>
                <a:effectLst/>
              </a:rPr>
              <a:t> to scan and display all contents of the current directory.</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8197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10"/>
          <p:cNvSpPr/>
          <p:nvPr/>
        </p:nvSpPr>
        <p:spPr>
          <a:xfrm>
            <a:off x="422031" y="432526"/>
            <a:ext cx="232117" cy="4710974"/>
          </a:xfrm>
          <a:prstGeom prst="rect">
            <a:avLst/>
          </a:prstGeom>
          <a:solidFill>
            <a:srgbClr val="1E2761"/>
          </a:solidFill>
          <a:ln w="12700">
            <a:solidFill>
              <a:srgbClr val="333333"/>
            </a:solidFill>
            <a:prstDash val="solid"/>
          </a:ln>
        </p:spPr>
      </p:sp>
      <p:sp>
        <p:nvSpPr>
          <p:cNvPr id="5" name="TextBox 4">
            <a:extLst>
              <a:ext uri="{FF2B5EF4-FFF2-40B4-BE49-F238E27FC236}">
                <a16:creationId xmlns:a16="http://schemas.microsoft.com/office/drawing/2014/main" id="{7D7E415B-5A60-CDB2-FDCD-48ED5E1746B7}"/>
              </a:ext>
            </a:extLst>
          </p:cNvPr>
          <p:cNvSpPr txBox="1"/>
          <p:nvPr/>
        </p:nvSpPr>
        <p:spPr>
          <a:xfrm>
            <a:off x="724486" y="432526"/>
            <a:ext cx="4572000" cy="369332"/>
          </a:xfrm>
          <a:prstGeom prst="rect">
            <a:avLst/>
          </a:prstGeom>
          <a:noFill/>
        </p:spPr>
        <p:txBody>
          <a:bodyPr wrap="square">
            <a:spAutoFit/>
          </a:bodyPr>
          <a:lstStyle/>
          <a:p>
            <a:pPr marL="0" indent="0">
              <a:buNone/>
            </a:pPr>
            <a:r>
              <a:rPr lang="en-US" b="1" dirty="0">
                <a:solidFill>
                  <a:schemeClr val="accent1">
                    <a:lumMod val="50000"/>
                  </a:schemeClr>
                </a:solidFill>
                <a:latin typeface="Arial" pitchFamily="34" charset="0"/>
                <a:cs typeface="Arial" pitchFamily="34" charset="-120"/>
              </a:rPr>
              <a:t>EDITOR</a:t>
            </a:r>
            <a:endParaRPr lang="en-US" sz="1800" b="1" dirty="0">
              <a:solidFill>
                <a:schemeClr val="accent1">
                  <a:lumMod val="50000"/>
                </a:schemeClr>
              </a:solidFill>
              <a:latin typeface="Arial" pitchFamily="34" charset="0"/>
              <a:cs typeface="Arial" pitchFamily="34" charset="-120"/>
            </a:endParaRPr>
          </a:p>
        </p:txBody>
      </p:sp>
      <p:pic>
        <p:nvPicPr>
          <p:cNvPr id="10" name="Picture 9">
            <a:extLst>
              <a:ext uri="{FF2B5EF4-FFF2-40B4-BE49-F238E27FC236}">
                <a16:creationId xmlns:a16="http://schemas.microsoft.com/office/drawing/2014/main" id="{DB6FC152-8161-3D29-797F-0DD5C2DDF909}"/>
              </a:ext>
            </a:extLst>
          </p:cNvPr>
          <p:cNvPicPr>
            <a:picLocks noChangeAspect="1"/>
          </p:cNvPicPr>
          <p:nvPr/>
        </p:nvPicPr>
        <p:blipFill>
          <a:blip r:embed="rId2"/>
          <a:stretch>
            <a:fillRect/>
          </a:stretch>
        </p:blipFill>
        <p:spPr>
          <a:xfrm>
            <a:off x="4266493" y="556260"/>
            <a:ext cx="4153021" cy="4198620"/>
          </a:xfrm>
          <a:prstGeom prst="rect">
            <a:avLst/>
          </a:prstGeom>
        </p:spPr>
      </p:pic>
      <p:sp>
        <p:nvSpPr>
          <p:cNvPr id="11" name="Rectangle 3">
            <a:extLst>
              <a:ext uri="{FF2B5EF4-FFF2-40B4-BE49-F238E27FC236}">
                <a16:creationId xmlns:a16="http://schemas.microsoft.com/office/drawing/2014/main" id="{4A0CCD64-9049-E6DC-0864-D78E9702BF73}"/>
              </a:ext>
            </a:extLst>
          </p:cNvPr>
          <p:cNvSpPr>
            <a:spLocks noChangeArrowheads="1"/>
          </p:cNvSpPr>
          <p:nvPr/>
        </p:nvSpPr>
        <p:spPr bwMode="auto">
          <a:xfrm>
            <a:off x="784860" y="725910"/>
            <a:ext cx="2447778"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Integrated File System Operations:</a:t>
            </a: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0" i="0" u="none" strike="noStrike" cap="none" normalizeH="0" baseline="0" dirty="0" err="1">
                <a:ln>
                  <a:noFill/>
                </a:ln>
                <a:solidFill>
                  <a:schemeClr val="tx1"/>
                </a:solidFill>
                <a:effectLst/>
                <a:latin typeface="Arial Unicode MS"/>
              </a:rPr>
              <a:t>filesystem.c</a:t>
            </a:r>
            <a:r>
              <a:rPr kumimoji="0" lang="en-US" altLang="en-US" sz="1100" b="0" i="0" u="none" strike="noStrike" cap="none" normalizeH="0" baseline="0" dirty="0">
                <a:ln>
                  <a:noFill/>
                </a:ln>
                <a:solidFill>
                  <a:schemeClr val="tx1"/>
                </a:solidFill>
                <a:effectLst/>
              </a:rPr>
              <a:t> module enables direct disk interaction by implementing </a:t>
            </a:r>
            <a:r>
              <a:rPr kumimoji="0" lang="en-US" altLang="en-US" sz="1100" b="0" i="0" u="none" strike="noStrike" cap="none" normalizeH="0" baseline="0" dirty="0" err="1">
                <a:ln>
                  <a:noFill/>
                </a:ln>
                <a:solidFill>
                  <a:schemeClr val="tx1"/>
                </a:solidFill>
                <a:effectLst/>
                <a:latin typeface="Arial Unicode MS"/>
              </a:rPr>
              <a:t>create_file</a:t>
            </a:r>
            <a:r>
              <a:rPr kumimoji="0" lang="en-US" altLang="en-US" sz="1100" b="0" i="0" u="none" strike="noStrike" cap="none" normalizeH="0" baseline="0" dirty="0">
                <a:ln>
                  <a:noFill/>
                </a:ln>
                <a:solidFill>
                  <a:schemeClr val="tx1"/>
                </a:solidFill>
                <a:effectLst/>
              </a:rPr>
              <a:t> and </a:t>
            </a:r>
            <a:r>
              <a:rPr kumimoji="0" lang="en-US" altLang="en-US" sz="1100" b="0" i="0" u="none" strike="noStrike" cap="none" normalizeH="0" baseline="0" dirty="0" err="1">
                <a:ln>
                  <a:noFill/>
                </a:ln>
                <a:solidFill>
                  <a:schemeClr val="tx1"/>
                </a:solidFill>
                <a:effectLst/>
                <a:latin typeface="Arial Unicode MS"/>
              </a:rPr>
              <a:t>delete_file</a:t>
            </a:r>
            <a:r>
              <a:rPr kumimoji="0" lang="en-US" altLang="en-US" sz="1100" b="0" i="0" u="none" strike="noStrike" cap="none" normalizeH="0" baseline="0" dirty="0">
                <a:ln>
                  <a:noFill/>
                </a:ln>
                <a:solidFill>
                  <a:schemeClr val="tx1"/>
                </a:solidFill>
                <a:effectLst/>
              </a:rPr>
              <a:t> using standard C I/O and system-level </a:t>
            </a:r>
            <a:r>
              <a:rPr kumimoji="0" lang="en-US" altLang="en-US" sz="1100" b="0" i="0" u="none" strike="noStrike" cap="none" normalizeH="0" baseline="0" dirty="0">
                <a:ln>
                  <a:noFill/>
                </a:ln>
                <a:solidFill>
                  <a:schemeClr val="tx1"/>
                </a:solidFill>
                <a:effectLst/>
                <a:latin typeface="Arial Unicode MS"/>
              </a:rPr>
              <a:t>remove()</a:t>
            </a:r>
            <a:r>
              <a:rPr kumimoji="0" lang="en-US" altLang="en-US" sz="1100" b="0" i="0" u="none" strike="noStrike" cap="none" normalizeH="0" baseline="0" dirty="0">
                <a:ln>
                  <a:noFill/>
                </a:ln>
                <a:solidFill>
                  <a:schemeClr val="tx1"/>
                </a:solidFill>
                <a:effectLst/>
              </a:rPr>
              <a:t> calls, alongside a </a:t>
            </a:r>
            <a:r>
              <a:rPr kumimoji="0" lang="en-US" altLang="en-US" sz="1100" b="0" i="0" u="none" strike="noStrike" cap="none" normalizeH="0" baseline="0" dirty="0" err="1">
                <a:ln>
                  <a:noFill/>
                </a:ln>
                <a:solidFill>
                  <a:schemeClr val="tx1"/>
                </a:solidFill>
                <a:effectLst/>
                <a:latin typeface="Arial Unicode MS"/>
              </a:rPr>
              <a:t>list_files</a:t>
            </a:r>
            <a:r>
              <a:rPr kumimoji="0" lang="en-US" altLang="en-US" sz="1100" b="0" i="0" u="none" strike="noStrike" cap="none" normalizeH="0" baseline="0" dirty="0">
                <a:ln>
                  <a:noFill/>
                </a:ln>
                <a:solidFill>
                  <a:schemeClr val="tx1"/>
                </a:solidFill>
                <a:effectLst/>
              </a:rPr>
              <a:t> function that scans directories while filtering out system navigation pointers like </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a:ln>
                  <a:noFill/>
                </a:ln>
                <a:solidFill>
                  <a:schemeClr val="tx1"/>
                </a:solidFill>
                <a:effectLst/>
              </a:rPr>
              <a:t> and </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a:ln>
                  <a:noFill/>
                </a:ln>
                <a:solidFill>
                  <a:schemeClr val="tx1"/>
                </a:solidFill>
                <a:effectLst/>
              </a:rPr>
              <a: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Buffer-Safe Text Editor:</a:t>
            </a: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0" i="0" u="none" strike="noStrike" cap="none" normalizeH="0" baseline="0" dirty="0" err="1">
                <a:ln>
                  <a:noFill/>
                </a:ln>
                <a:solidFill>
                  <a:schemeClr val="tx1"/>
                </a:solidFill>
                <a:effectLst/>
                <a:latin typeface="Arial Unicode MS"/>
              </a:rPr>
              <a:t>text_editor</a:t>
            </a:r>
            <a:r>
              <a:rPr kumimoji="0" lang="en-US" altLang="en-US" sz="1100" b="0" i="0" u="none" strike="noStrike" cap="none" normalizeH="0" baseline="0" dirty="0">
                <a:ln>
                  <a:noFill/>
                </a:ln>
                <a:solidFill>
                  <a:schemeClr val="tx1"/>
                </a:solidFill>
                <a:effectLst/>
              </a:rPr>
              <a:t> function provides an interactive writing environment that safely captures user input via </a:t>
            </a:r>
            <a:r>
              <a:rPr kumimoji="0" lang="en-US" altLang="en-US" sz="1100" b="0" i="0" u="none" strike="noStrike" cap="none" normalizeH="0" baseline="0" dirty="0" err="1">
                <a:ln>
                  <a:noFill/>
                </a:ln>
                <a:solidFill>
                  <a:schemeClr val="tx1"/>
                </a:solidFill>
                <a:effectLst/>
                <a:latin typeface="Arial Unicode MS"/>
              </a:rPr>
              <a:t>fgets</a:t>
            </a:r>
            <a:r>
              <a:rPr kumimoji="0" lang="en-US" altLang="en-US" sz="1100" b="0" i="0" u="none" strike="noStrike" cap="none" normalizeH="0" baseline="0" dirty="0">
                <a:ln>
                  <a:noFill/>
                </a:ln>
                <a:solidFill>
                  <a:schemeClr val="tx1"/>
                </a:solidFill>
                <a:effectLst/>
              </a:rPr>
              <a:t> and implements a strict "SAVE" keyword check to ensure data is correctly written to the file before closing the stream.</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System Diagnostics &amp; Computation:</a:t>
            </a:r>
            <a:r>
              <a:rPr kumimoji="0" lang="en-US" altLang="en-US" sz="1100" b="0" i="0" u="none" strike="noStrike" cap="none" normalizeH="0" baseline="0" dirty="0">
                <a:ln>
                  <a:noFill/>
                </a:ln>
                <a:solidFill>
                  <a:schemeClr val="tx1"/>
                </a:solidFill>
                <a:effectLst/>
                <a:latin typeface="Arial" panose="020B0604020202020204" pitchFamily="34" charset="0"/>
              </a:rPr>
              <a:t> The utility module includes </a:t>
            </a:r>
            <a:r>
              <a:rPr kumimoji="0" lang="en-US" altLang="en-US" sz="1100" b="0" i="0" u="none" strike="noStrike" cap="none" normalizeH="0" baseline="0" dirty="0" err="1">
                <a:ln>
                  <a:noFill/>
                </a:ln>
                <a:solidFill>
                  <a:schemeClr val="tx1"/>
                </a:solidFill>
                <a:effectLst/>
                <a:latin typeface="Arial Unicode MS"/>
              </a:rPr>
              <a:t>sys_info</a:t>
            </a:r>
            <a:r>
              <a:rPr kumimoji="0" lang="en-US" altLang="en-US" sz="1100" b="0" i="0" u="none" strike="noStrike" cap="none" normalizeH="0" baseline="0" dirty="0">
                <a:ln>
                  <a:noFill/>
                </a:ln>
                <a:solidFill>
                  <a:schemeClr val="tx1"/>
                </a:solidFill>
                <a:effectLst/>
              </a:rPr>
              <a:t> for displaying development metadata—such as the team name and automatic build timestamps—and a </a:t>
            </a:r>
            <a:r>
              <a:rPr kumimoji="0" lang="en-US" altLang="en-US" sz="1100" b="0" i="0" u="none" strike="noStrike" cap="none" normalizeH="0" baseline="0" dirty="0" err="1">
                <a:ln>
                  <a:noFill/>
                </a:ln>
                <a:solidFill>
                  <a:schemeClr val="tx1"/>
                </a:solidFill>
                <a:effectLst/>
                <a:latin typeface="Arial Unicode MS"/>
              </a:rPr>
              <a:t>simple_calc</a:t>
            </a:r>
            <a:r>
              <a:rPr kumimoji="0" lang="en-US" altLang="en-US" sz="1100" b="0" i="0" u="none" strike="noStrike" cap="none" normalizeH="0" baseline="0" dirty="0">
                <a:ln>
                  <a:noFill/>
                </a:ln>
                <a:solidFill>
                  <a:schemeClr val="tx1"/>
                </a:solidFill>
                <a:effectLst/>
              </a:rPr>
              <a:t> tool that performs precise arithmetic while using </a:t>
            </a:r>
            <a:r>
              <a:rPr kumimoji="0" lang="en-US" altLang="en-US" sz="1100" b="0" i="0" u="none" strike="noStrike" cap="none" normalizeH="0" baseline="0" dirty="0" err="1">
                <a:ln>
                  <a:noFill/>
                </a:ln>
                <a:solidFill>
                  <a:schemeClr val="tx1"/>
                </a:solidFill>
                <a:effectLst/>
                <a:latin typeface="Arial Unicode MS"/>
              </a:rPr>
              <a:t>getchar</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a:ln>
                  <a:noFill/>
                </a:ln>
                <a:solidFill>
                  <a:schemeClr val="tx1"/>
                </a:solidFill>
                <a:effectLst/>
              </a:rPr>
              <a:t> to maintain input buffer stability.</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4168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4"/>
          <p:cNvSpPr/>
          <p:nvPr/>
        </p:nvSpPr>
        <p:spPr>
          <a:xfrm>
            <a:off x="499403" y="801858"/>
            <a:ext cx="253219" cy="4341642"/>
          </a:xfrm>
          <a:prstGeom prst="rect">
            <a:avLst/>
          </a:prstGeom>
          <a:solidFill>
            <a:srgbClr val="0891B2"/>
          </a:solidFill>
          <a:ln w="12700">
            <a:solidFill>
              <a:srgbClr val="333333"/>
            </a:solidFill>
            <a:prstDash val="solid"/>
          </a:ln>
        </p:spPr>
      </p:sp>
      <p:sp>
        <p:nvSpPr>
          <p:cNvPr id="3" name="TextBox 2">
            <a:extLst>
              <a:ext uri="{FF2B5EF4-FFF2-40B4-BE49-F238E27FC236}">
                <a16:creationId xmlns:a16="http://schemas.microsoft.com/office/drawing/2014/main" id="{35F04C11-8440-F908-40DD-47C118488603}"/>
              </a:ext>
            </a:extLst>
          </p:cNvPr>
          <p:cNvSpPr txBox="1"/>
          <p:nvPr/>
        </p:nvSpPr>
        <p:spPr>
          <a:xfrm>
            <a:off x="804674" y="801858"/>
            <a:ext cx="4572000" cy="369332"/>
          </a:xfrm>
          <a:prstGeom prst="rect">
            <a:avLst/>
          </a:prstGeom>
          <a:noFill/>
        </p:spPr>
        <p:txBody>
          <a:bodyPr wrap="square">
            <a:spAutoFit/>
          </a:bodyPr>
          <a:lstStyle/>
          <a:p>
            <a:pPr marL="0" indent="0">
              <a:buNone/>
            </a:pPr>
            <a:r>
              <a:rPr lang="en-US" sz="1800" b="1" dirty="0">
                <a:solidFill>
                  <a:srgbClr val="0891B2"/>
                </a:solidFill>
                <a:latin typeface="Arial" pitchFamily="34" charset="0"/>
                <a:cs typeface="Arial" pitchFamily="34" charset="-120"/>
              </a:rPr>
              <a:t>UTILITY</a:t>
            </a:r>
          </a:p>
        </p:txBody>
      </p:sp>
      <p:pic>
        <p:nvPicPr>
          <p:cNvPr id="4" name="Picture 3"/>
          <p:cNvPicPr>
            <a:picLocks noChangeAspect="1"/>
          </p:cNvPicPr>
          <p:nvPr/>
        </p:nvPicPr>
        <p:blipFill>
          <a:blip r:embed="rId2"/>
          <a:stretch>
            <a:fillRect/>
          </a:stretch>
        </p:blipFill>
        <p:spPr>
          <a:xfrm>
            <a:off x="3567565" y="924978"/>
            <a:ext cx="4771761" cy="4112537"/>
          </a:xfrm>
          <a:prstGeom prst="rect">
            <a:avLst/>
          </a:prstGeom>
        </p:spPr>
      </p:pic>
      <p:sp>
        <p:nvSpPr>
          <p:cNvPr id="7" name="Rectangle 2">
            <a:extLst>
              <a:ext uri="{FF2B5EF4-FFF2-40B4-BE49-F238E27FC236}">
                <a16:creationId xmlns:a16="http://schemas.microsoft.com/office/drawing/2014/main" id="{5763CFD4-F18F-8E7F-66F1-D3B2A34BBE73}"/>
              </a:ext>
            </a:extLst>
          </p:cNvPr>
          <p:cNvSpPr>
            <a:spLocks noChangeArrowheads="1"/>
          </p:cNvSpPr>
          <p:nvPr/>
        </p:nvSpPr>
        <p:spPr bwMode="auto">
          <a:xfrm>
            <a:off x="752622" y="1445110"/>
            <a:ext cx="2712249"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System Diagnostics &amp; Metadata:</a:t>
            </a: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0" i="0" u="none" strike="noStrike" cap="none" normalizeH="0" baseline="0" dirty="0" err="1">
                <a:ln>
                  <a:noFill/>
                </a:ln>
                <a:solidFill>
                  <a:schemeClr val="tx1"/>
                </a:solidFill>
                <a:effectLst/>
                <a:latin typeface="Arial Unicode MS"/>
              </a:rPr>
              <a:t>sys_info</a:t>
            </a:r>
            <a:r>
              <a:rPr kumimoji="0" lang="en-US" altLang="en-US" sz="1100" b="0" i="0" u="none" strike="noStrike" cap="none" normalizeH="0" baseline="0" dirty="0">
                <a:ln>
                  <a:noFill/>
                </a:ln>
                <a:solidFill>
                  <a:schemeClr val="tx1"/>
                </a:solidFill>
                <a:effectLst/>
              </a:rPr>
              <a:t> function provides critical transparency by displaying the development team name ("CSE Group 4") and automatically capturing the exact compilation date and time using preprocessor macros.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Interactive Computational Utility:</a:t>
            </a: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0" i="0" u="none" strike="noStrike" cap="none" normalizeH="0" baseline="0" dirty="0" err="1">
                <a:ln>
                  <a:noFill/>
                </a:ln>
                <a:solidFill>
                  <a:schemeClr val="tx1"/>
                </a:solidFill>
                <a:effectLst/>
                <a:latin typeface="Arial Unicode MS"/>
              </a:rPr>
              <a:t>simple_calc</a:t>
            </a:r>
            <a:r>
              <a:rPr kumimoji="0" lang="en-US" altLang="en-US" sz="1100" b="0" i="0" u="none" strike="noStrike" cap="none" normalizeH="0" baseline="0" dirty="0">
                <a:ln>
                  <a:noFill/>
                </a:ln>
                <a:solidFill>
                  <a:schemeClr val="tx1"/>
                </a:solidFill>
                <a:effectLst/>
              </a:rPr>
              <a:t> tool enables basic arithmetic (addition, subtraction, multiplication, and division) with </a:t>
            </a:r>
            <a:r>
              <a:rPr kumimoji="0" lang="en-US" altLang="en-US" sz="1100" b="0" i="0" u="none" strike="noStrike" cap="none" normalizeH="0" baseline="0" dirty="0">
                <a:ln>
                  <a:noFill/>
                </a:ln>
                <a:solidFill>
                  <a:schemeClr val="tx1"/>
                </a:solidFill>
                <a:effectLst/>
                <a:latin typeface="Arial Unicode MS"/>
              </a:rPr>
              <a:t>double</a:t>
            </a:r>
            <a:r>
              <a:rPr kumimoji="0" lang="en-US" altLang="en-US" sz="1100" b="0" i="0" u="none" strike="noStrike" cap="none" normalizeH="0" baseline="0" dirty="0">
                <a:ln>
                  <a:noFill/>
                </a:ln>
                <a:solidFill>
                  <a:schemeClr val="tx1"/>
                </a:solidFill>
                <a:effectLst/>
              </a:rPr>
              <a:t> precision, utilizing a </a:t>
            </a:r>
            <a:r>
              <a:rPr kumimoji="0" lang="en-US" altLang="en-US" sz="1100" b="0" i="0" u="none" strike="noStrike" cap="none" normalizeH="0" baseline="0" dirty="0" err="1">
                <a:ln>
                  <a:noFill/>
                </a:ln>
                <a:solidFill>
                  <a:schemeClr val="tx1"/>
                </a:solidFill>
                <a:effectLst/>
                <a:latin typeface="Arial Unicode MS"/>
              </a:rPr>
              <a:t>getchar</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a:ln>
                  <a:noFill/>
                </a:ln>
                <a:solidFill>
                  <a:schemeClr val="tx1"/>
                </a:solidFill>
                <a:effectLst/>
              </a:rPr>
              <a:t> buffer-clearing technique to ensure input stability within the main OS loop</a:t>
            </a:r>
            <a:r>
              <a:rPr kumimoji="0" lang="en-US" altLang="en-US" sz="6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494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42615A-DF06-7F3F-05AC-B384C960987B}"/>
              </a:ext>
            </a:extLst>
          </p:cNvPr>
          <p:cNvPicPr>
            <a:picLocks noChangeAspect="1"/>
          </p:cNvPicPr>
          <p:nvPr/>
        </p:nvPicPr>
        <p:blipFill>
          <a:blip r:embed="rId2"/>
          <a:stretch>
            <a:fillRect/>
          </a:stretch>
        </p:blipFill>
        <p:spPr>
          <a:xfrm>
            <a:off x="0" y="21279"/>
            <a:ext cx="9144000" cy="5100941"/>
          </a:xfrm>
          <a:prstGeom prst="rect">
            <a:avLst/>
          </a:prstGeom>
        </p:spPr>
      </p:pic>
    </p:spTree>
    <p:extLst>
      <p:ext uri="{BB962C8B-B14F-4D97-AF65-F5344CB8AC3E}">
        <p14:creationId xmlns:p14="http://schemas.microsoft.com/office/powerpoint/2010/main" val="4150439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TECHNOLOGIES USED</a:t>
            </a:r>
            <a:endParaRPr lang="en-US" sz="3600" dirty="0"/>
          </a:p>
        </p:txBody>
      </p:sp>
      <p:sp>
        <p:nvSpPr>
          <p:cNvPr id="3" name="Shape 1"/>
          <p:cNvSpPr/>
          <p:nvPr/>
        </p:nvSpPr>
        <p:spPr>
          <a:xfrm>
            <a:off x="457200" y="1188720"/>
            <a:ext cx="8229600" cy="1280160"/>
          </a:xfrm>
          <a:prstGeom prst="rect">
            <a:avLst/>
          </a:prstGeom>
          <a:solidFill>
            <a:srgbClr val="1E2761"/>
          </a:solidFill>
          <a:ln w="12700">
            <a:solidFill>
              <a:srgbClr val="333333"/>
            </a:solidFill>
            <a:prstDash val="solid"/>
          </a:ln>
        </p:spPr>
      </p:sp>
      <p:sp>
        <p:nvSpPr>
          <p:cNvPr id="4" name="Text 2"/>
          <p:cNvSpPr/>
          <p:nvPr/>
        </p:nvSpPr>
        <p:spPr>
          <a:xfrm>
            <a:off x="640080" y="1371600"/>
            <a:ext cx="7863840" cy="27432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Programming Language</a:t>
            </a:r>
            <a:endParaRPr lang="en-US" sz="2000" dirty="0"/>
          </a:p>
        </p:txBody>
      </p:sp>
      <p:sp>
        <p:nvSpPr>
          <p:cNvPr id="5" name="Text 3"/>
          <p:cNvSpPr/>
          <p:nvPr/>
        </p:nvSpPr>
        <p:spPr>
          <a:xfrm>
            <a:off x="640080" y="2011680"/>
            <a:ext cx="7863840" cy="6858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 Programming Language: </a:t>
            </a:r>
            <a:r>
              <a:rPr lang="en-US" sz="1500" dirty="0">
                <a:solidFill>
                  <a:srgbClr val="FFFFFF"/>
                </a:solidFill>
                <a:latin typeface="Calibri" pitchFamily="34" charset="0"/>
                <a:ea typeface="Calibri" pitchFamily="34" charset="-122"/>
                <a:cs typeface="Calibri" pitchFamily="34" charset="-120"/>
              </a:rPr>
              <a:t>Chosen for its low-level control, efficiency, and ability to demonstrate system programming concepts. C provides direct memory access and is the traditional language for OS development.
</a:t>
            </a:r>
            <a:endParaRPr lang="en-US" sz="1600" dirty="0"/>
          </a:p>
          <a:p>
            <a:pPr marL="0" indent="0">
              <a:buNone/>
            </a:pPr>
            <a:r>
              <a:rPr lang="en-US" sz="1500" dirty="0">
                <a:solidFill>
                  <a:srgbClr val="FFFFFF"/>
                </a:solidFill>
                <a:latin typeface="Calibri" pitchFamily="34" charset="0"/>
                <a:ea typeface="Calibri" pitchFamily="34" charset="-122"/>
                <a:cs typeface="Calibri" pitchFamily="34" charset="-120"/>
              </a:rPr>
              <a:t>portability)</a:t>
            </a:r>
            <a:endParaRPr lang="en-US" sz="1600" dirty="0"/>
          </a:p>
        </p:txBody>
      </p:sp>
      <p:sp>
        <p:nvSpPr>
          <p:cNvPr id="6" name="Shape 4"/>
          <p:cNvSpPr/>
          <p:nvPr/>
        </p:nvSpPr>
        <p:spPr>
          <a:xfrm>
            <a:off x="457200" y="2651760"/>
            <a:ext cx="4023360" cy="2103120"/>
          </a:xfrm>
          <a:prstGeom prst="rect">
            <a:avLst/>
          </a:prstGeom>
          <a:solidFill>
            <a:srgbClr val="FFFFFF"/>
          </a:solidFill>
          <a:ln w="25400">
            <a:solidFill>
              <a:srgbClr val="2C5F2D"/>
            </a:solidFill>
            <a:prstDash val="solid"/>
          </a:ln>
        </p:spPr>
      </p:sp>
      <p:sp>
        <p:nvSpPr>
          <p:cNvPr id="7" name="Text 5"/>
          <p:cNvSpPr/>
          <p:nvPr/>
        </p:nvSpPr>
        <p:spPr>
          <a:xfrm>
            <a:off x="640080" y="2743200"/>
            <a:ext cx="3657600" cy="320040"/>
          </a:xfrm>
          <a:prstGeom prst="rect">
            <a:avLst/>
          </a:prstGeom>
          <a:noFill/>
          <a:ln/>
        </p:spPr>
        <p:txBody>
          <a:bodyPr wrap="square" rtlCol="0" anchor="ctr"/>
          <a:lstStyle/>
          <a:p>
            <a:pPr marL="0" indent="0">
              <a:buNone/>
            </a:pPr>
            <a:r>
              <a:rPr lang="en-US" sz="1800" b="1" dirty="0">
                <a:solidFill>
                  <a:srgbClr val="2C5F2D"/>
                </a:solidFill>
                <a:latin typeface="Arial" pitchFamily="34" charset="0"/>
                <a:ea typeface="Arial" pitchFamily="34" charset="-122"/>
                <a:cs typeface="Arial" pitchFamily="34" charset="-120"/>
              </a:rPr>
              <a:t>Development Environment</a:t>
            </a:r>
            <a:endParaRPr lang="en-US" sz="1800" dirty="0"/>
          </a:p>
        </p:txBody>
      </p:sp>
      <p:sp>
        <p:nvSpPr>
          <p:cNvPr id="8" name="Text 6"/>
          <p:cNvSpPr/>
          <p:nvPr/>
        </p:nvSpPr>
        <p:spPr>
          <a:xfrm>
            <a:off x="640080" y="3154680"/>
            <a:ext cx="3657600" cy="1508760"/>
          </a:xfrm>
          <a:prstGeom prst="rect">
            <a:avLst/>
          </a:prstGeom>
          <a:noFill/>
          <a:ln/>
        </p:spPr>
        <p:txBody>
          <a:bodyPr wrap="square"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IDE/Text Editor:</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Code::Blocks, Visual Studio Code</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Dev-C++, Eclipse CDT</a:t>
            </a:r>
            <a:endParaRPr lang="en-US" sz="1400" dirty="0"/>
          </a:p>
          <a:p>
            <a:pPr marL="0" indent="0">
              <a:buNone/>
            </a:pPr>
            <a:r>
              <a:rPr lang="en-US" sz="1500" b="1" dirty="0">
                <a:solidFill>
                  <a:srgbClr val="212121"/>
                </a:solidFill>
                <a:latin typeface="Calibri" pitchFamily="34" charset="0"/>
                <a:ea typeface="Calibri" pitchFamily="34" charset="-122"/>
                <a:cs typeface="Calibri" pitchFamily="34" charset="-120"/>
              </a:rPr>
              <a:t>Operating System:</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Windows, Linux, or </a:t>
            </a:r>
            <a:r>
              <a:rPr lang="en-US" sz="1400" dirty="0" err="1">
                <a:solidFill>
                  <a:srgbClr val="212121"/>
                </a:solidFill>
                <a:latin typeface="Calibri" pitchFamily="34" charset="0"/>
                <a:ea typeface="Calibri" pitchFamily="34" charset="-122"/>
                <a:cs typeface="Calibri" pitchFamily="34" charset="-120"/>
              </a:rPr>
              <a:t>macOS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Cross-platform compatibility</a:t>
            </a:r>
            <a:endParaRPr lang="en-US" sz="1400" dirty="0"/>
          </a:p>
          <a:p>
            <a:pPr marL="0" indent="0">
              <a:buNone/>
            </a:pPr>
            <a:r>
              <a:rPr lang="en-US" sz="1500" b="1" dirty="0">
                <a:solidFill>
                  <a:srgbClr val="212121"/>
                </a:solidFill>
                <a:latin typeface="Calibri" pitchFamily="34" charset="0"/>
                <a:ea typeface="Calibri" pitchFamily="34" charset="-122"/>
                <a:cs typeface="Calibri" pitchFamily="34" charset="-120"/>
              </a:rPr>
              <a:t>Version Control:</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Git for source code management</a:t>
            </a:r>
            <a:endParaRPr lang="en-US" sz="1400" dirty="0"/>
          </a:p>
        </p:txBody>
      </p:sp>
      <p:sp>
        <p:nvSpPr>
          <p:cNvPr id="9" name="Shape 7"/>
          <p:cNvSpPr/>
          <p:nvPr/>
        </p:nvSpPr>
        <p:spPr>
          <a:xfrm>
            <a:off x="4663440" y="2651760"/>
            <a:ext cx="4023360" cy="2103120"/>
          </a:xfrm>
          <a:prstGeom prst="rect">
            <a:avLst/>
          </a:prstGeom>
          <a:solidFill>
            <a:srgbClr val="FFFFFF"/>
          </a:solidFill>
          <a:ln w="25400">
            <a:solidFill>
              <a:srgbClr val="0891B2"/>
            </a:solidFill>
            <a:prstDash val="solid"/>
          </a:ln>
        </p:spPr>
      </p:sp>
      <p:sp>
        <p:nvSpPr>
          <p:cNvPr id="10" name="Text 8"/>
          <p:cNvSpPr/>
          <p:nvPr/>
        </p:nvSpPr>
        <p:spPr>
          <a:xfrm>
            <a:off x="4846320" y="2743200"/>
            <a:ext cx="3657600" cy="320040"/>
          </a:xfrm>
          <a:prstGeom prst="rect">
            <a:avLst/>
          </a:prstGeom>
          <a:noFill/>
          <a:ln/>
        </p:spPr>
        <p:txBody>
          <a:bodyPr wrap="square" rtlCol="0" anchor="ctr"/>
          <a:lstStyle/>
          <a:p>
            <a:pPr marL="0" indent="0">
              <a:buNone/>
            </a:pPr>
            <a:r>
              <a:rPr lang="en-US" sz="1800" b="1" dirty="0">
                <a:solidFill>
                  <a:srgbClr val="0891B2"/>
                </a:solidFill>
                <a:latin typeface="Arial" pitchFamily="34" charset="0"/>
                <a:ea typeface="Arial" pitchFamily="34" charset="-122"/>
                <a:cs typeface="Arial" pitchFamily="34" charset="-120"/>
              </a:rPr>
              <a:t>Tools and Compiler</a:t>
            </a:r>
            <a:endParaRPr lang="en-US" sz="1800" dirty="0"/>
          </a:p>
        </p:txBody>
      </p:sp>
      <p:sp>
        <p:nvSpPr>
          <p:cNvPr id="11" name="Text 9"/>
          <p:cNvSpPr/>
          <p:nvPr/>
        </p:nvSpPr>
        <p:spPr>
          <a:xfrm>
            <a:off x="4846320" y="3154680"/>
            <a:ext cx="3657600" cy="1508760"/>
          </a:xfrm>
          <a:prstGeom prst="rect">
            <a:avLst/>
          </a:prstGeom>
          <a:noFill/>
          <a:ln/>
        </p:spPr>
        <p:txBody>
          <a:bodyPr wrap="square"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Compiler:</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GCC (GNU Compiler Collection)</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MinGW for Windows environments</a:t>
            </a:r>
            <a:endParaRPr lang="en-US" sz="1400" dirty="0"/>
          </a:p>
          <a:p>
            <a:pPr marL="0" indent="0">
              <a:buNone/>
            </a:pPr>
            <a:r>
              <a:rPr lang="en-US" sz="1500" b="1" dirty="0">
                <a:solidFill>
                  <a:srgbClr val="212121"/>
                </a:solidFill>
                <a:latin typeface="Calibri" pitchFamily="34" charset="0"/>
                <a:ea typeface="Calibri" pitchFamily="34" charset="-122"/>
                <a:cs typeface="Calibri" pitchFamily="34" charset="-120"/>
              </a:rPr>
              <a:t>Build Tools: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Make utility for automated compilation</a:t>
            </a:r>
            <a:endParaRPr lang="en-US" sz="1400" dirty="0"/>
          </a:p>
          <a:p>
            <a:pPr marL="0" indent="0">
              <a:buNone/>
            </a:pPr>
            <a:r>
              <a:rPr lang="en-US" sz="1500" b="1" dirty="0">
                <a:solidFill>
                  <a:srgbClr val="212121"/>
                </a:solidFill>
                <a:latin typeface="Calibri" pitchFamily="34" charset="0"/>
                <a:ea typeface="Calibri" pitchFamily="34" charset="-122"/>
                <a:cs typeface="Calibri" pitchFamily="34" charset="-120"/>
              </a:rPr>
              <a:t>Debugging Tools: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GDB (GNU Debugger)</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Built-in IDE debuggers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PROGRAM STRUCTURE</a:t>
            </a:r>
            <a:endParaRPr lang="en-US" sz="3600" dirty="0"/>
          </a:p>
        </p:txBody>
      </p:sp>
      <p:sp>
        <p:nvSpPr>
          <p:cNvPr id="3" name="Shape 1"/>
          <p:cNvSpPr/>
          <p:nvPr/>
        </p:nvSpPr>
        <p:spPr>
          <a:xfrm>
            <a:off x="457200" y="1097280"/>
            <a:ext cx="5303520" cy="3657600"/>
          </a:xfrm>
          <a:prstGeom prst="rect">
            <a:avLst/>
          </a:prstGeom>
          <a:solidFill>
            <a:srgbClr val="FFFFFF"/>
          </a:solidFill>
          <a:ln w="12700">
            <a:solidFill>
              <a:srgbClr val="1E2761"/>
            </a:solidFill>
            <a:prstDash val="solid"/>
          </a:ln>
        </p:spPr>
      </p:sp>
      <p:sp>
        <p:nvSpPr>
          <p:cNvPr id="4" name="Text 2"/>
          <p:cNvSpPr/>
          <p:nvPr/>
        </p:nvSpPr>
        <p:spPr>
          <a:xfrm>
            <a:off x="640080" y="1143000"/>
            <a:ext cx="4937760" cy="274320"/>
          </a:xfrm>
          <a:prstGeom prst="rect">
            <a:avLst/>
          </a:prstGeom>
          <a:noFill/>
          <a:ln/>
        </p:spPr>
        <p:txBody>
          <a:bodyPr wrap="square" rtlCol="0" anchor="ctr"/>
          <a:lstStyle/>
          <a:p>
            <a:pPr marL="0" indent="0">
              <a:buNone/>
            </a:pPr>
            <a:r>
              <a:rPr lang="en-US" sz="2000" b="1" dirty="0">
                <a:solidFill>
                  <a:srgbClr val="1E2761"/>
                </a:solidFill>
                <a:latin typeface="Arial" pitchFamily="34" charset="0"/>
                <a:ea typeface="Arial" pitchFamily="34" charset="-122"/>
                <a:cs typeface="Arial" pitchFamily="34" charset="-120"/>
              </a:rPr>
              <a:t>Main Program Flow</a:t>
            </a:r>
            <a:endParaRPr lang="en-US" sz="2000" dirty="0"/>
          </a:p>
        </p:txBody>
      </p:sp>
      <p:sp>
        <p:nvSpPr>
          <p:cNvPr id="5" name="Text 3"/>
          <p:cNvSpPr/>
          <p:nvPr/>
        </p:nvSpPr>
        <p:spPr>
          <a:xfrm>
            <a:off x="640080" y="1548384"/>
            <a:ext cx="4937760" cy="3063240"/>
          </a:xfrm>
          <a:prstGeom prst="rect">
            <a:avLst/>
          </a:prstGeom>
          <a:noFill/>
          <a:ln/>
        </p:spPr>
        <p:txBody>
          <a:bodyPr wrap="square"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1. Initialization Phase</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Set up data structures (file system, process table)</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Display welcome message and system information</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Initialize variables and configurations</a:t>
            </a:r>
            <a:endParaRPr lang="en-US" sz="1400" dirty="0"/>
          </a:p>
          <a:p>
            <a:pPr marL="0" indent="0">
              <a:buNone/>
            </a:pPr>
            <a:r>
              <a:rPr lang="en-US" sz="1600" b="1" dirty="0">
                <a:solidFill>
                  <a:srgbClr val="212121"/>
                </a:solidFill>
                <a:latin typeface="Calibri" pitchFamily="34" charset="0"/>
                <a:ea typeface="Calibri" pitchFamily="34" charset="-122"/>
                <a:cs typeface="Calibri" pitchFamily="34" charset="-120"/>
              </a:rPr>
              <a:t>2. Main Loop (Command Processing)</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Display command prompt</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Read user input</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Parse command and extract parameters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Call appropriate function based on command</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Display output or error messages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Repeat until exit command received</a:t>
            </a:r>
            <a:endParaRPr lang="en-US" sz="1400" dirty="0"/>
          </a:p>
          <a:p>
            <a:pPr marL="0" indent="0">
              <a:buNone/>
            </a:pPr>
            <a:r>
              <a:rPr lang="en-US" sz="1600" b="1" dirty="0">
                <a:solidFill>
                  <a:srgbClr val="212121"/>
                </a:solidFill>
                <a:latin typeface="Calibri" pitchFamily="34" charset="0"/>
                <a:ea typeface="Calibri" pitchFamily="34" charset="-122"/>
                <a:cs typeface="Calibri" pitchFamily="34" charset="-120"/>
              </a:rPr>
              <a:t>3. Termination Phase</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Clean up resources</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Save any persistent data</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 Display exit message</a:t>
            </a:r>
            <a:endParaRPr lang="en-US" sz="1400" dirty="0"/>
          </a:p>
        </p:txBody>
      </p:sp>
      <p:sp>
        <p:nvSpPr>
          <p:cNvPr id="6" name="Shape 4"/>
          <p:cNvSpPr/>
          <p:nvPr/>
        </p:nvSpPr>
        <p:spPr>
          <a:xfrm>
            <a:off x="5943600" y="1097280"/>
            <a:ext cx="2743200" cy="1143000"/>
          </a:xfrm>
          <a:prstGeom prst="rect">
            <a:avLst/>
          </a:prstGeom>
          <a:solidFill>
            <a:srgbClr val="2C5F2D"/>
          </a:solidFill>
          <a:ln w="12700">
            <a:solidFill>
              <a:srgbClr val="333333"/>
            </a:solidFill>
            <a:prstDash val="solid"/>
          </a:ln>
        </p:spPr>
      </p:sp>
      <p:sp>
        <p:nvSpPr>
          <p:cNvPr id="7" name="Text 5"/>
          <p:cNvSpPr/>
          <p:nvPr/>
        </p:nvSpPr>
        <p:spPr>
          <a:xfrm>
            <a:off x="6035040" y="1188720"/>
            <a:ext cx="256032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Use of Functions</a:t>
            </a:r>
            <a:endParaRPr lang="en-US" sz="1600" dirty="0"/>
          </a:p>
        </p:txBody>
      </p:sp>
      <p:sp>
        <p:nvSpPr>
          <p:cNvPr id="8" name="Text 6"/>
          <p:cNvSpPr/>
          <p:nvPr/>
        </p:nvSpPr>
        <p:spPr>
          <a:xfrm>
            <a:off x="6035040" y="1463040"/>
            <a:ext cx="2560320" cy="6858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Modular design with separate functions for each command</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Helper functions for parsing, validation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Reusable utility functions</a:t>
            </a:r>
            <a:endParaRPr lang="en-US" sz="1000" dirty="0"/>
          </a:p>
        </p:txBody>
      </p:sp>
      <p:sp>
        <p:nvSpPr>
          <p:cNvPr id="9" name="Shape 7"/>
          <p:cNvSpPr/>
          <p:nvPr/>
        </p:nvSpPr>
        <p:spPr>
          <a:xfrm>
            <a:off x="5943600" y="2377440"/>
            <a:ext cx="2743200" cy="1188720"/>
          </a:xfrm>
          <a:prstGeom prst="rect">
            <a:avLst/>
          </a:prstGeom>
          <a:solidFill>
            <a:srgbClr val="0891B2"/>
          </a:solidFill>
          <a:ln w="12700">
            <a:solidFill>
              <a:srgbClr val="333333"/>
            </a:solidFill>
            <a:prstDash val="solid"/>
          </a:ln>
        </p:spPr>
      </p:sp>
      <p:sp>
        <p:nvSpPr>
          <p:cNvPr id="10" name="Text 8"/>
          <p:cNvSpPr/>
          <p:nvPr/>
        </p:nvSpPr>
        <p:spPr>
          <a:xfrm>
            <a:off x="6035040" y="2468880"/>
            <a:ext cx="256032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Use of Loops</a:t>
            </a:r>
            <a:endParaRPr lang="en-US" sz="1600" dirty="0"/>
          </a:p>
        </p:txBody>
      </p:sp>
      <p:sp>
        <p:nvSpPr>
          <p:cNvPr id="11" name="Text 9"/>
          <p:cNvSpPr/>
          <p:nvPr/>
        </p:nvSpPr>
        <p:spPr>
          <a:xfrm>
            <a:off x="6035040" y="2743200"/>
            <a:ext cx="256032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t>
            </a:r>
            <a:r>
              <a:rPr lang="en-US" sz="1000" dirty="0">
                <a:solidFill>
                  <a:srgbClr val="FFFFFF"/>
                </a:solidFill>
                <a:latin typeface="Calibri" pitchFamily="34" charset="0"/>
                <a:ea typeface="Calibri" pitchFamily="34" charset="-122"/>
                <a:cs typeface="Calibri" pitchFamily="34" charset="-120"/>
              </a:rPr>
              <a:t>While loop for main command processing cycle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For loops for iterating through data structures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Do-while for menu-driven </a:t>
            </a:r>
            <a:r>
              <a:rPr lang="en-US" sz="1300" dirty="0">
                <a:solidFill>
                  <a:srgbClr val="FFFFFF"/>
                </a:solidFill>
                <a:latin typeface="Calibri" pitchFamily="34" charset="0"/>
                <a:ea typeface="Calibri" pitchFamily="34" charset="-122"/>
                <a:cs typeface="Calibri" pitchFamily="34" charset="-120"/>
              </a:rPr>
              <a:t>operations</a:t>
            </a:r>
            <a:endParaRPr lang="en-US" sz="1300" dirty="0"/>
          </a:p>
        </p:txBody>
      </p:sp>
      <p:sp>
        <p:nvSpPr>
          <p:cNvPr id="12" name="Shape 10"/>
          <p:cNvSpPr/>
          <p:nvPr/>
        </p:nvSpPr>
        <p:spPr>
          <a:xfrm>
            <a:off x="5943600" y="3703320"/>
            <a:ext cx="2743200" cy="1051560"/>
          </a:xfrm>
          <a:prstGeom prst="rect">
            <a:avLst/>
          </a:prstGeom>
          <a:solidFill>
            <a:srgbClr val="1E2761"/>
          </a:solidFill>
          <a:ln w="12700">
            <a:solidFill>
              <a:srgbClr val="333333"/>
            </a:solidFill>
            <a:prstDash val="solid"/>
          </a:ln>
        </p:spPr>
      </p:sp>
      <p:sp>
        <p:nvSpPr>
          <p:cNvPr id="13" name="Text 11"/>
          <p:cNvSpPr/>
          <p:nvPr/>
        </p:nvSpPr>
        <p:spPr>
          <a:xfrm>
            <a:off x="6035040" y="3794760"/>
            <a:ext cx="256032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Use of Conditions</a:t>
            </a:r>
            <a:endParaRPr lang="en-US" sz="1600" dirty="0"/>
          </a:p>
        </p:txBody>
      </p:sp>
      <p:sp>
        <p:nvSpPr>
          <p:cNvPr id="14" name="Text 12"/>
          <p:cNvSpPr/>
          <p:nvPr/>
        </p:nvSpPr>
        <p:spPr>
          <a:xfrm>
            <a:off x="6035040" y="4069080"/>
            <a:ext cx="256032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t>
            </a:r>
            <a:r>
              <a:rPr lang="en-US" sz="1000" dirty="0">
                <a:solidFill>
                  <a:srgbClr val="FFFFFF"/>
                </a:solidFill>
                <a:latin typeface="Calibri" pitchFamily="34" charset="0"/>
                <a:ea typeface="Calibri" pitchFamily="34" charset="-122"/>
                <a:cs typeface="Calibri" pitchFamily="34" charset="-120"/>
              </a:rPr>
              <a:t>If-else for command validation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Switch-case for command routing</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Logical operators for complex checks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ADVANTAGES</a:t>
            </a:r>
            <a:endParaRPr lang="en-US" sz="3600" dirty="0"/>
          </a:p>
        </p:txBody>
      </p:sp>
      <p:sp>
        <p:nvSpPr>
          <p:cNvPr id="3" name="Shape 1"/>
          <p:cNvSpPr/>
          <p:nvPr/>
        </p:nvSpPr>
        <p:spPr>
          <a:xfrm>
            <a:off x="457200" y="1097280"/>
            <a:ext cx="2651760" cy="3657600"/>
          </a:xfrm>
          <a:prstGeom prst="rect">
            <a:avLst/>
          </a:prstGeom>
          <a:solidFill>
            <a:srgbClr val="FFFFFF"/>
          </a:solidFill>
          <a:ln w="25400">
            <a:solidFill>
              <a:srgbClr val="0891B2"/>
            </a:solidFill>
            <a:prstDash val="solid"/>
          </a:ln>
        </p:spPr>
      </p:sp>
      <p:sp>
        <p:nvSpPr>
          <p:cNvPr id="4" name="Shape 2"/>
          <p:cNvSpPr/>
          <p:nvPr/>
        </p:nvSpPr>
        <p:spPr>
          <a:xfrm>
            <a:off x="457200" y="1097280"/>
            <a:ext cx="2651760" cy="457200"/>
          </a:xfrm>
          <a:prstGeom prst="rect">
            <a:avLst/>
          </a:prstGeom>
          <a:solidFill>
            <a:srgbClr val="0891B2"/>
          </a:solidFill>
          <a:ln w="12700">
            <a:solidFill>
              <a:srgbClr val="333333"/>
            </a:solidFill>
            <a:prstDash val="solid"/>
          </a:ln>
        </p:spPr>
      </p:sp>
      <p:sp>
        <p:nvSpPr>
          <p:cNvPr id="5" name="Text 3"/>
          <p:cNvSpPr/>
          <p:nvPr/>
        </p:nvSpPr>
        <p:spPr>
          <a:xfrm>
            <a:off x="548640" y="1188720"/>
            <a:ext cx="2468880" cy="27432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SIMPLICITY</a:t>
            </a:r>
            <a:endParaRPr lang="en-US" sz="1800" dirty="0"/>
          </a:p>
        </p:txBody>
      </p:sp>
      <p:sp>
        <p:nvSpPr>
          <p:cNvPr id="6" name="Text 4"/>
          <p:cNvSpPr/>
          <p:nvPr/>
        </p:nvSpPr>
        <p:spPr>
          <a:xfrm>
            <a:off x="594360" y="1691640"/>
            <a:ext cx="2377440" cy="29260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 Easy to understand and implement</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a:t>
            </a:r>
          </a:p>
          <a:p>
            <a:pPr marL="0" indent="0">
              <a:buNone/>
            </a:pPr>
            <a:r>
              <a:rPr lang="en-US" sz="1400" dirty="0">
                <a:solidFill>
                  <a:srgbClr val="212121"/>
                </a:solidFill>
                <a:latin typeface="Calibri" pitchFamily="34" charset="0"/>
                <a:ea typeface="Calibri" pitchFamily="34" charset="-122"/>
                <a:cs typeface="Calibri" pitchFamily="34" charset="-120"/>
              </a:rPr>
              <a:t>No complex GUI components required</a:t>
            </a:r>
          </a:p>
          <a:p>
            <a:pPr marL="0" indent="0">
              <a:buNone/>
            </a:pP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Focuses on core programming logic</a:t>
            </a:r>
            <a:endParaRPr lang="en-US" sz="1400" dirty="0"/>
          </a:p>
          <a:p>
            <a:pPr marL="0" indent="0">
              <a:buNone/>
            </a:pPr>
            <a:endParaRPr lang="en-US" sz="1400" dirty="0">
              <a:solidFill>
                <a:srgbClr val="212121"/>
              </a:solidFill>
              <a:latin typeface="Calibri" pitchFamily="34" charset="0"/>
              <a:ea typeface="Calibri" pitchFamily="34" charset="-122"/>
              <a:cs typeface="Calibri" pitchFamily="34" charset="-120"/>
            </a:endParaRPr>
          </a:p>
          <a:p>
            <a:pPr marL="0" indent="0">
              <a:buNone/>
            </a:pPr>
            <a:r>
              <a:rPr lang="en-US" sz="1400" dirty="0">
                <a:solidFill>
                  <a:srgbClr val="212121"/>
                </a:solidFill>
                <a:latin typeface="Calibri" pitchFamily="34" charset="0"/>
                <a:ea typeface="Calibri" pitchFamily="34" charset="-122"/>
                <a:cs typeface="Calibri" pitchFamily="34" charset="-120"/>
              </a:rPr>
              <a:t>• Suitable for beginners with basic C knowledge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Clear input-output relationship</a:t>
            </a:r>
            <a:endParaRPr lang="en-US" sz="1400" dirty="0"/>
          </a:p>
        </p:txBody>
      </p:sp>
      <p:sp>
        <p:nvSpPr>
          <p:cNvPr id="7" name="Shape 5"/>
          <p:cNvSpPr/>
          <p:nvPr/>
        </p:nvSpPr>
        <p:spPr>
          <a:xfrm>
            <a:off x="3246120" y="1097280"/>
            <a:ext cx="2651760" cy="3657600"/>
          </a:xfrm>
          <a:prstGeom prst="rect">
            <a:avLst/>
          </a:prstGeom>
          <a:solidFill>
            <a:srgbClr val="FFFFFF"/>
          </a:solidFill>
          <a:ln w="25400">
            <a:solidFill>
              <a:srgbClr val="2C5F2D"/>
            </a:solidFill>
            <a:prstDash val="solid"/>
          </a:ln>
        </p:spPr>
      </p:sp>
      <p:sp>
        <p:nvSpPr>
          <p:cNvPr id="8" name="Shape 6"/>
          <p:cNvSpPr/>
          <p:nvPr/>
        </p:nvSpPr>
        <p:spPr>
          <a:xfrm>
            <a:off x="3246120" y="1097280"/>
            <a:ext cx="2651760" cy="457200"/>
          </a:xfrm>
          <a:prstGeom prst="rect">
            <a:avLst/>
          </a:prstGeom>
          <a:solidFill>
            <a:srgbClr val="2C5F2D"/>
          </a:solidFill>
          <a:ln w="12700">
            <a:solidFill>
              <a:srgbClr val="333333"/>
            </a:solidFill>
            <a:prstDash val="solid"/>
          </a:ln>
        </p:spPr>
      </p:sp>
      <p:sp>
        <p:nvSpPr>
          <p:cNvPr id="9" name="Text 7"/>
          <p:cNvSpPr/>
          <p:nvPr/>
        </p:nvSpPr>
        <p:spPr>
          <a:xfrm>
            <a:off x="3337560" y="1188720"/>
            <a:ext cx="2468880" cy="27432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EDUCATIONAL VALUE</a:t>
            </a:r>
            <a:endParaRPr lang="en-US" sz="1800" dirty="0"/>
          </a:p>
        </p:txBody>
      </p:sp>
      <p:sp>
        <p:nvSpPr>
          <p:cNvPr id="10" name="Text 8"/>
          <p:cNvSpPr/>
          <p:nvPr/>
        </p:nvSpPr>
        <p:spPr>
          <a:xfrm>
            <a:off x="3383280" y="1691640"/>
            <a:ext cx="2377440" cy="29260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 Demonstrates real-world OS concepts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Enhances problem-solving abilities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Builds foundation for advanced topics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Encourages logical thinking and design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Provides practical coding experience</a:t>
            </a:r>
            <a:endParaRPr lang="en-US" sz="1400" dirty="0"/>
          </a:p>
        </p:txBody>
      </p:sp>
      <p:sp>
        <p:nvSpPr>
          <p:cNvPr id="11" name="Shape 9"/>
          <p:cNvSpPr/>
          <p:nvPr/>
        </p:nvSpPr>
        <p:spPr>
          <a:xfrm>
            <a:off x="6035040" y="1097280"/>
            <a:ext cx="2651760" cy="3657600"/>
          </a:xfrm>
          <a:prstGeom prst="rect">
            <a:avLst/>
          </a:prstGeom>
          <a:solidFill>
            <a:srgbClr val="FFFFFF"/>
          </a:solidFill>
          <a:ln w="25400">
            <a:solidFill>
              <a:srgbClr val="1E2761"/>
            </a:solidFill>
            <a:prstDash val="solid"/>
          </a:ln>
        </p:spPr>
      </p:sp>
      <p:sp>
        <p:nvSpPr>
          <p:cNvPr id="12" name="Shape 10"/>
          <p:cNvSpPr/>
          <p:nvPr/>
        </p:nvSpPr>
        <p:spPr>
          <a:xfrm>
            <a:off x="6035040" y="1097280"/>
            <a:ext cx="2651760" cy="457200"/>
          </a:xfrm>
          <a:prstGeom prst="rect">
            <a:avLst/>
          </a:prstGeom>
          <a:solidFill>
            <a:srgbClr val="1E2761"/>
          </a:solidFill>
          <a:ln w="12700">
            <a:solidFill>
              <a:srgbClr val="333333"/>
            </a:solidFill>
            <a:prstDash val="solid"/>
          </a:ln>
        </p:spPr>
      </p:sp>
      <p:sp>
        <p:nvSpPr>
          <p:cNvPr id="13" name="Text 11"/>
          <p:cNvSpPr/>
          <p:nvPr/>
        </p:nvSpPr>
        <p:spPr>
          <a:xfrm>
            <a:off x="6126480" y="1143000"/>
            <a:ext cx="2468880" cy="36576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LIGHTWEIGHT &amp; EFFICIENT</a:t>
            </a:r>
            <a:endParaRPr lang="en-US" sz="1700" dirty="0"/>
          </a:p>
        </p:txBody>
      </p:sp>
      <p:sp>
        <p:nvSpPr>
          <p:cNvPr id="14" name="Text 12"/>
          <p:cNvSpPr/>
          <p:nvPr/>
        </p:nvSpPr>
        <p:spPr>
          <a:xfrm>
            <a:off x="6172200" y="1691640"/>
            <a:ext cx="2377440" cy="29260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 Minimal system resource requirements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Runs on any computer or platform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Fast execution and quick response time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No external dependencies or libraries
</a:t>
            </a:r>
            <a:endParaRPr lang="en-US" sz="1400" dirty="0"/>
          </a:p>
          <a:p>
            <a:pPr marL="0" indent="0">
              <a:buNone/>
            </a:pPr>
            <a:r>
              <a:rPr lang="en-US" sz="1400" dirty="0">
                <a:solidFill>
                  <a:srgbClr val="212121"/>
                </a:solidFill>
                <a:latin typeface="Calibri" pitchFamily="34" charset="0"/>
                <a:ea typeface="Calibri" pitchFamily="34" charset="-122"/>
                <a:cs typeface="Calibri" pitchFamily="34" charset="-120"/>
              </a:rPr>
              <a:t>• Portable and easily distributable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Arial Black" pitchFamily="34" charset="0"/>
                <a:ea typeface="Arial Black" pitchFamily="34" charset="-122"/>
                <a:cs typeface="Arial Black" pitchFamily="34" charset="-120"/>
              </a:rPr>
              <a:t>LEARNING OUTCOMES</a:t>
            </a:r>
            <a:endParaRPr lang="en-US" sz="3600" dirty="0"/>
          </a:p>
        </p:txBody>
      </p:sp>
      <p:sp>
        <p:nvSpPr>
          <p:cNvPr id="3" name="Shape 1"/>
          <p:cNvSpPr/>
          <p:nvPr/>
        </p:nvSpPr>
        <p:spPr>
          <a:xfrm>
            <a:off x="457200" y="1005840"/>
            <a:ext cx="8229600" cy="3840480"/>
          </a:xfrm>
          <a:prstGeom prst="rect">
            <a:avLst/>
          </a:prstGeom>
          <a:solidFill>
            <a:srgbClr val="FFFFFF"/>
          </a:solidFill>
          <a:ln w="12700">
            <a:solidFill>
              <a:srgbClr val="1E2761"/>
            </a:solidFill>
            <a:prstDash val="solid"/>
          </a:ln>
        </p:spPr>
      </p:sp>
      <p:sp>
        <p:nvSpPr>
          <p:cNvPr id="4" name="Text 2"/>
          <p:cNvSpPr/>
          <p:nvPr/>
        </p:nvSpPr>
        <p:spPr>
          <a:xfrm>
            <a:off x="640080" y="1188720"/>
            <a:ext cx="7863840" cy="347472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Knowledge Gained</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a:t>
            </a:r>
            <a:r>
              <a:rPr lang="en-US" sz="1300" dirty="0">
                <a:solidFill>
                  <a:srgbClr val="212121"/>
                </a:solidFill>
                <a:latin typeface="Calibri" pitchFamily="34" charset="0"/>
                <a:ea typeface="Calibri" pitchFamily="34" charset="-122"/>
                <a:cs typeface="Calibri" pitchFamily="34" charset="-120"/>
              </a:rPr>
              <a:t>Deep understanding of operating system fundamentals and architecture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Comprehension of how commands are parsed, interpreted, and executed</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Knowledge of file system operations and data organization</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Understanding of process lifecycle and management concepts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Insight into how user interfaces communicate with system core</a:t>
            </a:r>
            <a:endParaRPr lang="en-US" sz="1300" dirty="0"/>
          </a:p>
          <a:p>
            <a:pPr marL="0" indent="0">
              <a:buNone/>
            </a:pPr>
            <a:r>
              <a:rPr lang="en-US" sz="2000" b="1" dirty="0">
                <a:solidFill>
                  <a:srgbClr val="1E2761"/>
                </a:solidFill>
                <a:latin typeface="Calibri" pitchFamily="34" charset="0"/>
                <a:ea typeface="Calibri" pitchFamily="34" charset="-122"/>
                <a:cs typeface="Calibri" pitchFamily="34" charset="-120"/>
              </a:rPr>
              <a:t>Skills Developed</a:t>
            </a:r>
            <a:endParaRPr lang="en-US" sz="1500" dirty="0"/>
          </a:p>
          <a:p>
            <a:pPr marL="0" indent="0">
              <a:buNone/>
            </a:pPr>
            <a:r>
              <a:rPr lang="en-US" sz="1500" dirty="0">
                <a:solidFill>
                  <a:srgbClr val="212121"/>
                </a:solidFill>
                <a:latin typeface="Calibri" pitchFamily="34" charset="0"/>
                <a:ea typeface="Calibri" pitchFamily="34" charset="-122"/>
                <a:cs typeface="Calibri" pitchFamily="34" charset="-120"/>
              </a:rPr>
              <a:t>• </a:t>
            </a:r>
            <a:r>
              <a:rPr lang="en-US" sz="1300" dirty="0">
                <a:solidFill>
                  <a:srgbClr val="212121"/>
                </a:solidFill>
                <a:latin typeface="Calibri" pitchFamily="34" charset="0"/>
                <a:ea typeface="Calibri" pitchFamily="34" charset="-122"/>
                <a:cs typeface="Calibri" pitchFamily="34" charset="-120"/>
              </a:rPr>
              <a:t>Proficiency in C programming: variables, functions, loops, conditionals, arrays, structures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String manipulation and text processing abilities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Problem decomposition and modular design thinking</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Debugging skills and systematic error handling approaches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Code documentation and maintenance practices</a:t>
            </a:r>
            <a:endParaRPr lang="en-US" sz="1300" dirty="0"/>
          </a:p>
          <a:p>
            <a:pPr marL="0" indent="0">
              <a:buNone/>
            </a:pPr>
            <a:r>
              <a:rPr lang="en-US" sz="2000" b="1" dirty="0">
                <a:solidFill>
                  <a:srgbClr val="1E2761"/>
                </a:solidFill>
                <a:latin typeface="Calibri" pitchFamily="34" charset="0"/>
                <a:ea typeface="Calibri" pitchFamily="34" charset="-122"/>
                <a:cs typeface="Calibri" pitchFamily="34" charset="-120"/>
              </a:rPr>
              <a:t>Practical Understanding Achieved</a:t>
            </a:r>
            <a:endParaRPr lang="en-US" sz="1500" dirty="0"/>
          </a:p>
          <a:p>
            <a:pPr marL="0" indent="0">
              <a:buNone/>
            </a:pPr>
            <a:r>
              <a:rPr lang="en-US" sz="1300" dirty="0">
                <a:solidFill>
                  <a:srgbClr val="212121"/>
                </a:solidFill>
                <a:latin typeface="Calibri" pitchFamily="34" charset="0"/>
                <a:ea typeface="Calibri" pitchFamily="34" charset="-122"/>
                <a:cs typeface="Calibri" pitchFamily="34" charset="-120"/>
              </a:rPr>
              <a:t>Students gain hands-on experience translating theoretical OS concepts into working code, bridging the gap between abstract learning and real-world implementation. This practical foundation prepares them for advanced systems programming and professional development work.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1613</Words>
  <Application>Microsoft Office PowerPoint</Application>
  <PresentationFormat>On-screen Show (16:9)</PresentationFormat>
  <Paragraphs>196</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Arial Unicode MS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Terminal-Based Mini Operating System Simulator</dc:title>
  <dc:subject>PptxGenJS Presentation</dc:subject>
  <dc:creator>Student</dc:creator>
  <cp:lastModifiedBy>Deepak Gaikwad</cp:lastModifiedBy>
  <cp:revision>13</cp:revision>
  <dcterms:created xsi:type="dcterms:W3CDTF">2026-02-10T17:58:46Z</dcterms:created>
  <dcterms:modified xsi:type="dcterms:W3CDTF">2026-03-04T03:48:22Z</dcterms:modified>
</cp:coreProperties>
</file>